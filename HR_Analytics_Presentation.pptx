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b8aedfb-bcf7-8fb6-9ffc-7dcb1dc1040e}">
          <p14:sldIdLst>
            <p14:sldId id="256"/>
            <p14:sldId id="257"/>
            <p14:sldId id="258"/>
          </p14:sldIdLst>
        </p14:section>
        <p14:section name="Analysis" id="{1b246c9a-8c4c-3c69-05cf-8c84641d9a4d}">
          <p14:sldIdLst>
            <p14:sldId id="259"/>
            <p14:sldId id="260"/>
            <p14:sldId id="261"/>
            <p14:sldId id="262"/>
          </p14:sldIdLst>
        </p14:section>
        <p14:section name="Wrap-up" id="{e7f2f163-04d5-6945-ae07-227e175a1290}">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Attrition</c:v>
                </c:pt>
              </c:strCache>
            </c:strRef>
          </c:tx>
          <c:spPr>
            <a:solidFill>
              <a:srgbClr val="8FA3C8"/>
            </a:solidFill>
            <a:effectLst/>
          </c:spPr>
          <c:invertIfNegative val="0"/>
          <c:dLbls>
            <c:numFmt formatCode="#,##0" sourceLinked="0"/>
            <c:txPr>
              <a:bodyPr/>
              <a:lstStyle/>
              <a:p>
                <a:pPr>
                  <a:defRPr b="0" i="0" strike="noStrike" sz="1200" u="none">
                    <a:solidFill>
                      <a:srgbClr val="1B2540"/>
                    </a:solidFill>
                    <a:latin typeface="+mn-lt"/>
                  </a:defRPr>
                </a:pPr>
              </a:p>
            </c:txPr>
            <c:showLegendKey val="0"/>
            <c:showVal val="1"/>
            <c:showCatName val="0"/>
            <c:showSerName val="0"/>
            <c:showPercent val="0"/>
            <c:showBubbleSize val="0"/>
            <c:showLeaderLines val="0"/>
          </c:dLbls>
          <c:dPt>
            <c:idx val="0"/>
            <c:invertIfNegative val="0"/>
            <c:bubble3D val="0"/>
            <c:spPr>
              <a:solidFill>
                <a:srgbClr val="8FA3C8"/>
              </a:solidFill>
              <a:effectLst/>
            </c:spPr>
          </c:dPt>
          <c:dPt>
            <c:idx val="1"/>
            <c:invertIfNegative val="0"/>
            <c:bubble3D val="0"/>
            <c:spPr>
              <a:solidFill>
                <a:srgbClr val="F26B5B"/>
              </a:solidFill>
              <a:effectLst/>
            </c:spPr>
          </c:dPt>
          <c:dPt>
            <c:idx val="2"/>
            <c:invertIfNegative val="0"/>
            <c:bubble3D val="0"/>
            <c:spPr>
              <a:solidFill>
                <a:srgbClr val="8FA3C8"/>
              </a:solidFill>
              <a:effectLst/>
            </c:spPr>
          </c:dPt>
          <c:dPt>
            <c:idx val="3"/>
            <c:invertIfNegative val="0"/>
            <c:bubble3D val="0"/>
            <c:spPr>
              <a:solidFill>
                <a:srgbClr val="8FA3C8"/>
              </a:solidFill>
              <a:effectLst/>
            </c:spPr>
          </c:dPt>
          <c:dPt>
            <c:idx val="4"/>
            <c:invertIfNegative val="0"/>
            <c:bubble3D val="0"/>
            <c:spPr>
              <a:solidFill>
                <a:srgbClr val="8FA3C8"/>
              </a:solidFill>
              <a:effectLst/>
            </c:spPr>
          </c:dPt>
          <c:cat>
            <c:multiLvlStrRef>
              <c:f>Sheet1!$A$2:$A$6</c:f>
              <c:multiLvlStrCache>
                <c:ptCount val="5"/>
                <c:lvl>
                  <c:pt idx="0">
                    <c:v>18-25</c:v>
                  </c:pt>
                  <c:pt idx="1">
                    <c:v>26-35</c:v>
                  </c:pt>
                  <c:pt idx="2">
                    <c:v>36-45</c:v>
                  </c:pt>
                  <c:pt idx="3">
                    <c:v>46-55</c:v>
                  </c:pt>
                  <c:pt idx="4">
                    <c:v>55+</c:v>
                  </c:pt>
                </c:lvl>
              </c:multiLvlStrCache>
            </c:multiLvlStrRef>
          </c:cat>
          <c:val>
            <c:numRef>
              <c:f>Sheet1!$B$2:$B$6</c:f>
              <c:numCache>
                <c:formatCode>General</c:formatCode>
                <c:ptCount val="5"/>
                <c:pt idx="0">
                  <c:v>44</c:v>
                </c:pt>
                <c:pt idx="1">
                  <c:v>116</c:v>
                </c:pt>
                <c:pt idx="2">
                  <c:v>43</c:v>
                </c:pt>
                <c:pt idx="3">
                  <c:v>27</c:v>
                </c:pt>
                <c:pt idx="4">
                  <c:v>8</c:v>
                </c:pt>
              </c:numCache>
            </c:numRef>
          </c:val>
        </c:ser>
        <c:dLbls>
          <c:numFmt formatCode="#,##0" sourceLinked="0"/>
          <c:txPr>
            <a:bodyPr/>
            <a:lstStyle/>
            <a:p>
              <a:pPr>
                <a:defRPr b="0" i="0" strike="noStrike" sz="1200" u="none">
                  <a:solidFill>
                    <a:srgbClr val="1B25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E3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Attrition</c:v>
                </c:pt>
              </c:strCache>
            </c:strRef>
          </c:tx>
          <c:spPr>
            <a:solidFill>
              <a:schemeClr val="accent1"/>
            </a:solidFill>
            <a:ln w="9525" cap="flat">
              <a:solidFill>
                <a:srgbClr val="F9F9F9"/>
              </a:solidFill>
              <a:prstDash val="solid"/>
              <a:round/>
            </a:ln>
            <a:effectLst/>
          </c:spPr>
          <c:dPt>
            <c:idx val="0"/>
            <c:bubble3D val="0"/>
            <c:spPr>
              <a:solidFill>
                <a:srgbClr val="5B6C9A"/>
              </a:solidFill>
              <a:ln w="12700" cap="flat">
                <a:solidFill>
                  <a:srgbClr val="FFFFFF"/>
                </a:solidFill>
                <a:prstDash val="solid"/>
                <a:round/>
              </a:ln>
              <a:effectLst/>
            </c:spPr>
          </c:dPt>
          <c:dPt>
            <c:idx val="1"/>
            <c:bubble3D val="0"/>
            <c:spPr>
              <a:solidFill>
                <a:srgbClr val="F26B5B"/>
              </a:solidFill>
              <a:ln w="12700" cap="flat">
                <a:solidFill>
                  <a:srgbClr val="FFFFFF"/>
                </a:solidFill>
                <a:prstDash val="solid"/>
                <a:round/>
              </a:ln>
              <a:effectLst/>
            </c:spPr>
          </c:dPt>
          <c:dLbls>
            <c:dLbl>
              <c:idx val="0"/>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Male</c:v>
                </c:pt>
                <c:pt idx="1">
                  <c:v>Female</c:v>
                </c:pt>
              </c:strCache>
            </c:strRef>
          </c:cat>
          <c:val>
            <c:numRef>
              <c:f>Sheet1!$B$2:$B$3</c:f>
              <c:numCache>
                <c:ptCount val="2"/>
                <c:pt idx="0">
                  <c:v>151</c:v>
                </c:pt>
                <c:pt idx="1">
                  <c:v>87</c:v>
                </c:pt>
              </c:numCache>
            </c:numRef>
          </c:val>
        </c:ser>
        <c:firstSliceAng val="0"/>
        <c:holeSize val="55"/>
      </c:doughnutChart>
      <c:spPr>
        <a:noFill/>
        <a:ln>
          <a:noFill/>
        </a:ln>
        <a:effectLst/>
      </c:spPr>
    </c:plotArea>
    <c:legend>
      <c:legendPos val="b"/>
      <c:overlay val="0"/>
      <c:txPr>
        <a:bodyPr/>
        <a:lstStyle/>
        <a:p>
          <a:pPr>
            <a:defRPr sz="1100">
              <a:solidFill>
                <a:srgbClr val="2E3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Share of exits</c:v>
                </c:pt>
              </c:strCache>
            </c:strRef>
          </c:tx>
          <c:spPr>
            <a:solidFill>
              <a:schemeClr val="accent1"/>
            </a:solidFill>
            <a:ln w="9525" cap="flat">
              <a:solidFill>
                <a:srgbClr val="F9F9F9"/>
              </a:solidFill>
              <a:prstDash val="solid"/>
              <a:round/>
            </a:ln>
            <a:effectLst/>
          </c:spPr>
          <c:dPt>
            <c:idx val="0"/>
            <c:bubble3D val="0"/>
            <c:spPr>
              <a:solidFill>
                <a:srgbClr val="5B6C9A"/>
              </a:solidFill>
              <a:ln w="12700" cap="flat">
                <a:solidFill>
                  <a:srgbClr val="FFFFFF"/>
                </a:solidFill>
                <a:prstDash val="solid"/>
                <a:round/>
              </a:ln>
              <a:effectLst/>
            </c:spPr>
          </c:dPt>
          <c:dPt>
            <c:idx val="1"/>
            <c:bubble3D val="0"/>
            <c:spPr>
              <a:solidFill>
                <a:srgbClr val="1FA89A"/>
              </a:solidFill>
              <a:ln w="12700" cap="flat">
                <a:solidFill>
                  <a:srgbClr val="FFFFFF"/>
                </a:solidFill>
                <a:prstDash val="solid"/>
                <a:round/>
              </a:ln>
              <a:effectLst/>
            </c:spPr>
          </c:dPt>
          <c:dPt>
            <c:idx val="2"/>
            <c:bubble3D val="0"/>
            <c:spPr>
              <a:solidFill>
                <a:srgbClr val="F26B5B"/>
              </a:solidFill>
              <a:ln w="12700" cap="flat">
                <a:solidFill>
                  <a:srgbClr val="FFFFFF"/>
                </a:solidFill>
                <a:prstDash val="solid"/>
                <a:round/>
              </a:ln>
              <a:effectLst/>
            </c:spPr>
          </c:dPt>
          <c:dPt>
            <c:idx val="3"/>
            <c:bubble3D val="0"/>
            <c:spPr>
              <a:solidFill>
                <a:srgbClr val="2E3A5C"/>
              </a:solidFill>
              <a:ln w="12700" cap="flat">
                <a:solidFill>
                  <a:srgbClr val="FFFFFF"/>
                </a:solidFill>
                <a:prstDash val="solid"/>
                <a:round/>
              </a:ln>
              <a:effectLst/>
            </c:spPr>
          </c:dPt>
          <c:dPt>
            <c:idx val="4"/>
            <c:bubble3D val="0"/>
            <c:spPr>
              <a:solidFill>
                <a:srgbClr val="8FA3C8"/>
              </a:solidFill>
              <a:ln w="12700" cap="flat">
                <a:solidFill>
                  <a:srgbClr val="FFFFFF"/>
                </a:solidFill>
                <a:prstDash val="solid"/>
                <a:round/>
              </a:ln>
              <a:effectLst/>
            </c:spPr>
          </c:dPt>
          <c:dLbls>
            <c:dLbl>
              <c:idx val="0"/>
              <c:numFmt formatCode="0.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1"/>
              <c:numFmt formatCode="0.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2"/>
              <c:numFmt formatCode="0.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3"/>
              <c:numFmt formatCode="0.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4"/>
              <c:numFmt formatCode="0.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Life Sciences</c:v>
                </c:pt>
                <c:pt idx="1">
                  <c:v>Medical</c:v>
                </c:pt>
                <c:pt idx="2">
                  <c:v>Marketing</c:v>
                </c:pt>
                <c:pt idx="3">
                  <c:v>Technical Degree</c:v>
                </c:pt>
                <c:pt idx="4">
                  <c:v>Other fields</c:v>
                </c:pt>
              </c:strCache>
            </c:strRef>
          </c:cat>
          <c:val>
            <c:numRef>
              <c:f>Sheet1!$B$2:$B$6</c:f>
              <c:numCache>
                <c:ptCount val="5"/>
                <c:pt idx="0">
                  <c:v>37.4</c:v>
                </c:pt>
                <c:pt idx="1">
                  <c:v>26.5</c:v>
                </c:pt>
                <c:pt idx="2">
                  <c:v>15.1</c:v>
                </c:pt>
                <c:pt idx="3">
                  <c:v>13.4</c:v>
                </c:pt>
                <c:pt idx="4">
                  <c:v>7.6</c:v>
                </c:pt>
              </c:numCache>
            </c:numRef>
          </c:val>
        </c:ser>
        <c:firstSliceAng val="0"/>
        <c:holeSize val="55"/>
      </c:doughnutChart>
      <c:spPr>
        <a:noFill/>
        <a:ln>
          <a:noFill/>
        </a:ln>
        <a:effectLst/>
      </c:spPr>
    </c:plotArea>
    <c:legend>
      <c:legendPos val="r"/>
      <c:overlay val="0"/>
      <c:txPr>
        <a:bodyPr/>
        <a:lstStyle/>
        <a:p>
          <a:pPr>
            <a:defRPr sz="1100">
              <a:solidFill>
                <a:srgbClr val="2E3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Attrition</c:v>
                </c:pt>
              </c:strCache>
            </c:strRef>
          </c:tx>
          <c:spPr>
            <a:solidFill>
              <a:srgbClr val="F26B5B"/>
            </a:solidFill>
            <a:effectLst/>
          </c:spPr>
          <c:invertIfNegative val="0"/>
          <c:dLbls>
            <c:numFmt formatCode="#,##0" sourceLinked="0"/>
            <c:txPr>
              <a:bodyPr/>
              <a:lstStyle/>
              <a:p>
                <a:pPr>
                  <a:defRPr b="0" i="0" strike="noStrike" sz="1100" u="none">
                    <a:solidFill>
                      <a:srgbClr val="1B2540"/>
                    </a:solidFill>
                    <a:latin typeface="+mn-lt"/>
                  </a:defRPr>
                </a:pPr>
              </a:p>
            </c:txPr>
            <c:showLegendKey val="0"/>
            <c:showVal val="1"/>
            <c:showCatName val="0"/>
            <c:showSerName val="0"/>
            <c:showPercent val="0"/>
            <c:showBubbleSize val="0"/>
            <c:showLeaderLines val="0"/>
          </c:dLbls>
          <c:dPt>
            <c:idx val="0"/>
            <c:invertIfNegative val="0"/>
            <c:bubble3D val="0"/>
            <c:spPr>
              <a:solidFill>
                <a:srgbClr val="F26B5B"/>
              </a:solidFill>
              <a:effectLst/>
            </c:spPr>
          </c:dPt>
          <c:dPt>
            <c:idx val="1"/>
            <c:invertIfNegative val="0"/>
            <c:bubble3D val="0"/>
            <c:spPr>
              <a:solidFill>
                <a:srgbClr val="F26B5B"/>
              </a:solidFill>
              <a:effectLst/>
            </c:spPr>
          </c:dPt>
          <c:dPt>
            <c:idx val="2"/>
            <c:invertIfNegative val="0"/>
            <c:bubble3D val="0"/>
            <c:spPr>
              <a:solidFill>
                <a:srgbClr val="F26B5B"/>
              </a:solidFill>
              <a:effectLst/>
            </c:spPr>
          </c:dPt>
          <c:dPt>
            <c:idx val="3"/>
            <c:invertIfNegative val="0"/>
            <c:bubble3D val="0"/>
            <c:spPr>
              <a:solidFill>
                <a:srgbClr val="8FA3C8"/>
              </a:solidFill>
              <a:effectLst/>
            </c:spPr>
          </c:dPt>
          <c:dPt>
            <c:idx val="4"/>
            <c:invertIfNegative val="0"/>
            <c:bubble3D val="0"/>
            <c:spPr>
              <a:solidFill>
                <a:srgbClr val="8FA3C8"/>
              </a:solidFill>
              <a:effectLst/>
            </c:spPr>
          </c:dPt>
          <c:dPt>
            <c:idx val="5"/>
            <c:invertIfNegative val="0"/>
            <c:bubble3D val="0"/>
            <c:spPr>
              <a:solidFill>
                <a:srgbClr val="8FA3C8"/>
              </a:solidFill>
              <a:effectLst/>
            </c:spPr>
          </c:dPt>
          <c:dPt>
            <c:idx val="6"/>
            <c:invertIfNegative val="0"/>
            <c:bubble3D val="0"/>
            <c:spPr>
              <a:solidFill>
                <a:srgbClr val="8FA3C8"/>
              </a:solidFill>
              <a:effectLst/>
            </c:spPr>
          </c:dPt>
          <c:dPt>
            <c:idx val="7"/>
            <c:invertIfNegative val="0"/>
            <c:bubble3D val="0"/>
            <c:spPr>
              <a:solidFill>
                <a:srgbClr val="8FA3C8"/>
              </a:solidFill>
              <a:effectLst/>
            </c:spPr>
          </c:dPt>
          <c:cat>
            <c:multiLvlStrRef>
              <c:f>Sheet1!$A$2:$A$9</c:f>
              <c:multiLvlStrCache>
                <c:ptCount val="8"/>
                <c:lvl>
                  <c:pt idx="0">
                    <c:v>Laboratory Technician</c:v>
                  </c:pt>
                  <c:pt idx="1">
                    <c:v>Sales Executive</c:v>
                  </c:pt>
                  <c:pt idx="2">
                    <c:v>Research Scientist</c:v>
                  </c:pt>
                  <c:pt idx="3">
                    <c:v>Sales Representative</c:v>
                  </c:pt>
                  <c:pt idx="4">
                    <c:v>Human Resources</c:v>
                  </c:pt>
                  <c:pt idx="5">
                    <c:v>Manufacturing Director</c:v>
                  </c:pt>
                  <c:pt idx="6">
                    <c:v>Manager</c:v>
                  </c:pt>
                  <c:pt idx="7">
                    <c:v>Research Director</c:v>
                  </c:pt>
                </c:lvl>
              </c:multiLvlStrCache>
            </c:multiLvlStrRef>
          </c:cat>
          <c:val>
            <c:numRef>
              <c:f>Sheet1!$B$2:$B$9</c:f>
              <c:numCache>
                <c:formatCode>General</c:formatCode>
                <c:ptCount val="8"/>
                <c:pt idx="0">
                  <c:v>62</c:v>
                </c:pt>
                <c:pt idx="1">
                  <c:v>58</c:v>
                </c:pt>
                <c:pt idx="2">
                  <c:v>47</c:v>
                </c:pt>
                <c:pt idx="3">
                  <c:v>33</c:v>
                </c:pt>
                <c:pt idx="4">
                  <c:v>12</c:v>
                </c:pt>
                <c:pt idx="5">
                  <c:v>10</c:v>
                </c:pt>
                <c:pt idx="6">
                  <c:v>5</c:v>
                </c:pt>
                <c:pt idx="7">
                  <c:v>2</c:v>
                </c:pt>
              </c:numCache>
            </c:numRef>
          </c:val>
        </c:ser>
        <c:dLbls>
          <c:numFmt formatCode="#,##0" sourceLinked="0"/>
          <c:txPr>
            <a:bodyPr/>
            <a:lstStyle/>
            <a:p>
              <a:pPr>
                <a:defRPr b="0" i="0" strike="noStrike" sz="1100" u="none">
                  <a:solidFill>
                    <a:srgbClr val="1B25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E3A5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Attrition</c:v>
                </c:pt>
              </c:strCache>
            </c:strRef>
          </c:tx>
          <c:spPr>
            <a:solidFill>
              <a:srgbClr val="F26B5B"/>
            </a:solidFill>
            <a:effectLst/>
          </c:spPr>
          <c:invertIfNegative val="0"/>
          <c:dLbls>
            <c:numFmt formatCode="#,##0" sourceLinked="0"/>
            <c:txPr>
              <a:bodyPr/>
              <a:lstStyle/>
              <a:p>
                <a:pPr>
                  <a:defRPr b="0" i="0" strike="noStrike" sz="1200" u="none">
                    <a:solidFill>
                      <a:srgbClr val="1B2540"/>
                    </a:solidFill>
                    <a:latin typeface="+mn-lt"/>
                  </a:defRPr>
                </a:pPr>
              </a:p>
            </c:txPr>
            <c:showLegendKey val="0"/>
            <c:showVal val="1"/>
            <c:showCatName val="0"/>
            <c:showSerName val="0"/>
            <c:showPercent val="0"/>
            <c:showBubbleSize val="0"/>
            <c:showLeaderLines val="0"/>
          </c:dLbls>
          <c:dPt>
            <c:idx val="0"/>
            <c:invertIfNegative val="0"/>
            <c:bubble3D val="0"/>
            <c:spPr>
              <a:solidFill>
                <a:srgbClr val="F26B5B"/>
              </a:solidFill>
              <a:effectLst/>
            </c:spPr>
          </c:dPt>
          <c:dPt>
            <c:idx val="1"/>
            <c:invertIfNegative val="0"/>
            <c:bubble3D val="0"/>
            <c:spPr>
              <a:solidFill>
                <a:srgbClr val="8FA3C8"/>
              </a:solidFill>
              <a:effectLst/>
            </c:spPr>
          </c:dPt>
          <c:dPt>
            <c:idx val="2"/>
            <c:invertIfNegative val="0"/>
            <c:bubble3D val="0"/>
            <c:spPr>
              <a:solidFill>
                <a:srgbClr val="8FA3C8"/>
              </a:solidFill>
              <a:effectLst/>
            </c:spPr>
          </c:dPt>
          <c:dPt>
            <c:idx val="3"/>
            <c:invertIfNegative val="0"/>
            <c:bubble3D val="0"/>
            <c:spPr>
              <a:solidFill>
                <a:srgbClr val="8FA3C8"/>
              </a:solidFill>
              <a:effectLst/>
            </c:spPr>
          </c:dPt>
          <c:cat>
            <c:multiLvlStrRef>
              <c:f>Sheet1!$A$2:$A$5</c:f>
              <c:multiLvlStrCache>
                <c:ptCount val="4"/>
                <c:lvl>
                  <c:pt idx="0">
                    <c:v>Up to 5K</c:v>
                  </c:pt>
                  <c:pt idx="1">
                    <c:v>5K-10K</c:v>
                  </c:pt>
                  <c:pt idx="2">
                    <c:v>10K-15K</c:v>
                  </c:pt>
                  <c:pt idx="3">
                    <c:v>15K+</c:v>
                  </c:pt>
                </c:lvl>
              </c:multiLvlStrCache>
            </c:multiLvlStrRef>
          </c:cat>
          <c:val>
            <c:numRef>
              <c:f>Sheet1!$B$2:$B$5</c:f>
              <c:numCache>
                <c:formatCode>General</c:formatCode>
                <c:ptCount val="4"/>
                <c:pt idx="0">
                  <c:v>163</c:v>
                </c:pt>
                <c:pt idx="1">
                  <c:v>49</c:v>
                </c:pt>
                <c:pt idx="2">
                  <c:v>21</c:v>
                </c:pt>
                <c:pt idx="3">
                  <c:v>5</c:v>
                </c:pt>
              </c:numCache>
            </c:numRef>
          </c:val>
        </c:ser>
        <c:dLbls>
          <c:numFmt formatCode="#,##0" sourceLinked="0"/>
          <c:txPr>
            <a:bodyPr/>
            <a:lstStyle/>
            <a:p>
              <a:pPr>
                <a:defRPr b="0" i="0" strike="noStrike" sz="1200" u="none">
                  <a:solidFill>
                    <a:srgbClr val="1B25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E3A5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Attrition</c:v>
                </c:pt>
              </c:strCache>
            </c:strRef>
          </c:tx>
          <c:spPr>
            <a:solidFill>
              <a:srgbClr val="F26B5B"/>
            </a:solidFill>
            <a:effectLst/>
          </c:spPr>
          <c:invertIfNegative val="0"/>
          <c:dLbls>
            <c:numFmt formatCode="#,##0" sourceLinked="0"/>
            <c:txPr>
              <a:bodyPr/>
              <a:lstStyle/>
              <a:p>
                <a:pPr>
                  <a:defRPr b="0" i="0" strike="noStrike" sz="1200" u="none">
                    <a:solidFill>
                      <a:srgbClr val="1B2540"/>
                    </a:solidFill>
                    <a:latin typeface="+mn-lt"/>
                  </a:defRPr>
                </a:pPr>
              </a:p>
            </c:txPr>
            <c:showLegendKey val="0"/>
            <c:showVal val="1"/>
            <c:showCatName val="0"/>
            <c:showSerName val="0"/>
            <c:showPercent val="0"/>
            <c:showBubbleSize val="0"/>
            <c:showLeaderLines val="0"/>
          </c:dLbls>
          <c:dPt>
            <c:idx val="0"/>
            <c:invertIfNegative val="0"/>
            <c:bubble3D val="0"/>
            <c:spPr>
              <a:solidFill>
                <a:srgbClr val="F26B5B"/>
              </a:solidFill>
              <a:effectLst/>
            </c:spPr>
          </c:dPt>
          <c:dPt>
            <c:idx val="1"/>
            <c:invertIfNegative val="0"/>
            <c:bubble3D val="0"/>
            <c:spPr>
              <a:solidFill>
                <a:srgbClr val="F26B5B"/>
              </a:solidFill>
              <a:effectLst/>
            </c:spPr>
          </c:dPt>
          <c:dPt>
            <c:idx val="2"/>
            <c:invertIfNegative val="0"/>
            <c:bubble3D val="0"/>
            <c:spPr>
              <a:solidFill>
                <a:srgbClr val="8FA3C8"/>
              </a:solidFill>
              <a:effectLst/>
            </c:spPr>
          </c:dPt>
          <c:dPt>
            <c:idx val="3"/>
            <c:invertIfNegative val="0"/>
            <c:bubble3D val="0"/>
            <c:spPr>
              <a:solidFill>
                <a:srgbClr val="8FA3C8"/>
              </a:solidFill>
              <a:effectLst/>
            </c:spPr>
          </c:dPt>
          <c:cat>
            <c:multiLvlStrRef>
              <c:f>Sheet1!$A$2:$A$5</c:f>
              <c:multiLvlStrCache>
                <c:ptCount val="4"/>
                <c:lvl>
                  <c:pt idx="0">
                    <c:v>Level 1</c:v>
                  </c:pt>
                  <c:pt idx="1">
                    <c:v>Level 2</c:v>
                  </c:pt>
                  <c:pt idx="2">
                    <c:v>Level 3</c:v>
                  </c:pt>
                  <c:pt idx="3">
                    <c:v>Level 4</c:v>
                  </c:pt>
                </c:lvl>
              </c:multiLvlStrCache>
            </c:multiLvlStrRef>
          </c:cat>
          <c:val>
            <c:numRef>
              <c:f>Sheet1!$B$2:$B$5</c:f>
              <c:numCache>
                <c:formatCode>General</c:formatCode>
                <c:ptCount val="4"/>
                <c:pt idx="0">
                  <c:v>67</c:v>
                </c:pt>
                <c:pt idx="1">
                  <c:v>46</c:v>
                </c:pt>
                <c:pt idx="2">
                  <c:v>73</c:v>
                </c:pt>
                <c:pt idx="3">
                  <c:v>52</c:v>
                </c:pt>
              </c:numCache>
            </c:numRef>
          </c:val>
        </c:ser>
        <c:dLbls>
          <c:numFmt formatCode="#,##0" sourceLinked="0"/>
          <c:txPr>
            <a:bodyPr/>
            <a:lstStyle/>
            <a:p>
              <a:pPr>
                <a:defRPr b="0" i="0" strike="noStrike" sz="1200" u="none">
                  <a:solidFill>
                    <a:srgbClr val="1B25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E3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HR Analytics dashboard in Power BI focused on employee attrition. Add your name and course/company on this slide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business problem: attrition is costly, and HR needs to know which employees leave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are taken from the dashboard cards: 1,480 employees, 238 exits, 16.1% attrition rate, average age 37, average monthly income 6.5K, average tenure 7.0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Power BI report. A job role slicer at the top filters every visual. The next slides rebuild the main charts from the dashboard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 18-25 = 44, 26-35 = 116, 36-45 = 43, 46-55 = 27, 55+ = 8. Gender: Male 151, Female 87. Both totals add up to 238.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 shares are read from the donut: Life Sciences 37.4%, Medical 26.5%, Marketing 15.1%, Technical 13.4% (label cut off in the screenshot, assumed Technical Degree). The remaining 7.6% is grouped as Other fields. Job roles come from the matrix on the dashboard. The matrix lists eight roles that add up to 229 of 238 exits; the other 9 exits belong to a role that is scrolled out of view in the screenshot, so it is not charted.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Salary slabs: up to 5K = 163, 5K-10K = 49, 10K-15K = 21, 15K+ = 5. Satisfaction totals come from the Total row of the job role matrix: 67, 46, 73, 52 for levels 1-4. Note that level 3 has the single highest count (73), so satisfaction alone does not explain exits.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 are shares of the 238 employees who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actions follow from the dashboard patterns. They are suggestions to discuss, not proven causes of attrition.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 number to remember: 16.1% attrition, 238 exits.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926080"/>
            <a:ext cx="4937760" cy="82296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371600"/>
          </a:xfrm>
          <a:prstGeom prst="rect">
            <a:avLst/>
          </a:prstGeom>
          <a:noFill/>
          <a:ln/>
        </p:spPr>
        <p:txBody>
          <a:bodyPr wrap="square" rtlCol="0" anchor="b"/>
          <a:lstStyle/>
          <a:p>
            <a:pPr algn="l" indent="0" marL="0">
              <a:buNone/>
            </a:pPr>
            <a:r>
              <a:rPr lang="en-US" sz="4000" b="1" dirty="0">
                <a:solidFill>
                  <a:schemeClr val="bg1"/>
                </a:solidFill>
              </a:rPr>
              <a:t>HR Analytics Dashboard</a:t>
            </a:r>
            <a:endParaRPr lang="en-US" sz="4000" dirty="0"/>
          </a:p>
        </p:txBody>
      </p:sp>
      <p:sp>
        <p:nvSpPr>
          <p:cNvPr id="3" name="Text 0"/>
          <p:cNvSpPr/>
          <p:nvPr>
            <p:ph idx="101" type="body" hasCustomPrompt="1"/>
          </p:nvPr>
        </p:nvSpPr>
        <p:spPr>
          <a:xfrm>
            <a:off x="548640" y="2926080"/>
            <a:ext cx="4937760" cy="822960"/>
          </a:xfrm>
          <a:prstGeom prst="rect">
            <a:avLst/>
          </a:prstGeom>
          <a:noFill/>
          <a:ln/>
        </p:spPr>
        <p:txBody>
          <a:bodyPr wrap="square" rtlCol="0" anchor="t"/>
          <a:lstStyle/>
          <a:p>
            <a:pPr indent="0" marL="0">
              <a:buNone/>
            </a:pPr>
            <a:r>
              <a:rPr lang="en-US" sz="1800" dirty="0">
                <a:solidFill>
                  <a:schemeClr val="accent6"/>
                </a:solidFill>
              </a:rPr>
              <a:t>Employee attrition analysis built in Power BI</a:t>
            </a:r>
            <a:endParaRPr lang="en-US" sz="1800" dirty="0"/>
          </a:p>
        </p:txBody>
      </p:sp>
      <p:sp>
        <p:nvSpPr>
          <p:cNvPr id="4" name="Hero circle"/>
          <p:cNvSpPr/>
          <p:nvPr/>
        </p:nvSpPr>
        <p:spPr>
          <a:xfrm>
            <a:off x="6126480" y="1097280"/>
            <a:ext cx="2651760" cy="2651760"/>
          </a:xfrm>
          <a:prstGeom prst="ellipse">
            <a:avLst/>
          </a:prstGeom>
          <a:solidFill>
            <a:schemeClr val="tx2"/>
          </a:solidFill>
          <a:ln w="12700">
            <a:solidFill>
              <a:schemeClr val="tx2"/>
            </a:solidFill>
            <a:prstDash val="solid"/>
          </a:ln>
        </p:spPr>
      </p:sp>
      <p:sp>
        <p:nvSpPr>
          <p:cNvPr id="5" name="Hero accent"/>
          <p:cNvSpPr/>
          <p:nvPr/>
        </p:nvSpPr>
        <p:spPr>
          <a:xfrm>
            <a:off x="6720840" y="1691640"/>
            <a:ext cx="1463040" cy="1463040"/>
          </a:xfrm>
          <a:prstGeom prst="ellipse">
            <a:avLst/>
          </a:prstGeom>
          <a:solidFill>
            <a:schemeClr val="accent1"/>
          </a:solidFill>
          <a:ln w="12700">
            <a:solidFill>
              <a:schemeClr val="accent1"/>
            </a:solidFill>
            <a:prstDash val="solid"/>
          </a:ln>
        </p:spPr>
      </p:sp>
      <p:pic>
        <p:nvPicPr>
          <p:cNvPr id="6" name="Hero icon" descr="Employees icon">    </p:cNvPr>
          <p:cNvPicPr>
            <a:picLocks noChangeAspect="1"/>
          </p:cNvPicPr>
          <p:nvPr/>
        </p:nvPicPr>
        <p:blipFill>
          <a:blip r:embed="rId1"/>
          <a:stretch>
            <a:fillRect/>
          </a:stretch>
        </p:blipFill>
        <p:spPr>
          <a:xfrm>
            <a:off x="7114032" y="2084832"/>
            <a:ext cx="676656" cy="6766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200" b="1" dirty="0">
                <a:solidFill>
                  <a:schemeClr val="tx1"/>
                </a:solidFill>
              </a:rPr>
              <a:t>Project overview</a:t>
            </a:r>
            <a:endParaRPr lang="en-US" sz="3200" dirty="0"/>
          </a:p>
        </p:txBody>
      </p:sp>
      <p:sp>
        <p:nvSpPr>
          <p:cNvPr id="3" name="Objective heading"/>
          <p:cNvSpPr txBox="1"/>
          <p:nvPr/>
        </p:nvSpPr>
        <p:spPr>
          <a:xfrm>
            <a:off x="457200" y="1280160"/>
            <a:ext cx="3840480" cy="365760"/>
          </a:xfrm>
          <a:prstGeom prst="rect">
            <a:avLst/>
          </a:prstGeom>
          <a:noFill/>
          <a:ln/>
        </p:spPr>
        <p:txBody>
          <a:bodyPr wrap="square" lIns="0" tIns="0" rIns="0" bIns="0" rtlCol="0" anchor="ctr"/>
          <a:lstStyle/>
          <a:p>
            <a:pPr indent="0" marL="0">
              <a:buNone/>
            </a:pPr>
            <a:r>
              <a:rPr lang="en-US" sz="2000" b="1" dirty="0">
                <a:solidFill>
                  <a:schemeClr val="accent1"/>
                </a:solidFill>
              </a:rPr>
              <a:t>Objective</a:t>
            </a:r>
            <a:endParaRPr lang="en-US" sz="2000" dirty="0"/>
          </a:p>
        </p:txBody>
      </p:sp>
      <p:sp>
        <p:nvSpPr>
          <p:cNvPr id="4" name="Objective text"/>
          <p:cNvSpPr txBox="1"/>
          <p:nvPr/>
        </p:nvSpPr>
        <p:spPr>
          <a:xfrm>
            <a:off x="457200" y="1737360"/>
            <a:ext cx="3840480" cy="2011680"/>
          </a:xfrm>
          <a:prstGeom prst="rect">
            <a:avLst/>
          </a:prstGeom>
          <a:noFill/>
          <a:ln/>
        </p:spPr>
        <p:txBody>
          <a:bodyPr wrap="square" lIns="0" tIns="0" rIns="0" bIns="0" rtlCol="0" anchor="t"/>
          <a:lstStyle/>
          <a:p>
            <a:pPr indent="0" marL="0">
              <a:buNone/>
            </a:pPr>
            <a:r>
              <a:rPr lang="en-US" sz="1600" dirty="0">
                <a:solidFill>
                  <a:schemeClr val="tx1"/>
                </a:solidFill>
              </a:rPr>
              <a:t>Analyse employee attrition in an HR dataset and present the results in an interactive Power BI dashboard, so HR can see who is leaving, where it is concentrated and what may be driving it.</a:t>
            </a:r>
            <a:endParaRPr lang="en-US" sz="1600" dirty="0"/>
          </a:p>
        </p:txBody>
      </p:sp>
      <p:sp>
        <p:nvSpPr>
          <p:cNvPr id="5" name="Question card 1"/>
          <p:cNvSpPr/>
          <p:nvPr/>
        </p:nvSpPr>
        <p:spPr>
          <a:xfrm>
            <a:off x="4663440" y="1280160"/>
            <a:ext cx="4023360" cy="914400"/>
          </a:xfrm>
          <a:prstGeom prst="roundRect">
            <a:avLst>
              <a:gd name="adj" fmla="val 10000"/>
            </a:avLst>
          </a:prstGeom>
          <a:solidFill>
            <a:schemeClr val="bg2"/>
          </a:solidFill>
          <a:ln w="12700">
            <a:solidFill>
              <a:schemeClr val="bg2"/>
            </a:solidFill>
            <a:prstDash val="solid"/>
          </a:ln>
        </p:spPr>
      </p:sp>
      <p:sp>
        <p:nvSpPr>
          <p:cNvPr id="6" name="Who is leaving? circle"/>
          <p:cNvSpPr/>
          <p:nvPr/>
        </p:nvSpPr>
        <p:spPr>
          <a:xfrm>
            <a:off x="4846320" y="1435608"/>
            <a:ext cx="603504" cy="603504"/>
          </a:xfrm>
          <a:prstGeom prst="ellipse">
            <a:avLst/>
          </a:prstGeom>
          <a:solidFill>
            <a:schemeClr val="accent1"/>
          </a:solidFill>
          <a:ln w="12700">
            <a:solidFill>
              <a:schemeClr val="accent1"/>
            </a:solidFill>
            <a:prstDash val="solid"/>
          </a:ln>
        </p:spPr>
      </p:sp>
      <p:pic>
        <p:nvPicPr>
          <p:cNvPr id="7" name="Who is leaving?" descr="Who is leaving?">    </p:cNvPr>
          <p:cNvPicPr>
            <a:picLocks noChangeAspect="1"/>
          </p:cNvPicPr>
          <p:nvPr/>
        </p:nvPicPr>
        <p:blipFill>
          <a:blip r:embed="rId1"/>
          <a:stretch>
            <a:fillRect/>
          </a:stretch>
        </p:blipFill>
        <p:spPr>
          <a:xfrm>
            <a:off x="5009266" y="1598554"/>
            <a:ext cx="277612" cy="277612"/>
          </a:xfrm>
          <a:prstGeom prst="rect">
            <a:avLst/>
          </a:prstGeom>
        </p:spPr>
      </p:pic>
      <p:sp>
        <p:nvSpPr>
          <p:cNvPr id="8" name="Question text 1"/>
          <p:cNvSpPr txBox="1"/>
          <p:nvPr/>
        </p:nvSpPr>
        <p:spPr>
          <a:xfrm>
            <a:off x="5577840" y="1371600"/>
            <a:ext cx="3017520" cy="731520"/>
          </a:xfrm>
          <a:prstGeom prst="rect">
            <a:avLst/>
          </a:prstGeom>
          <a:noFill/>
          <a:ln/>
        </p:spPr>
        <p:txBody>
          <a:bodyPr wrap="square" lIns="0" tIns="0" rIns="0" bIns="0" rtlCol="0" anchor="ctr"/>
          <a:lstStyle/>
          <a:p>
            <a:pPr indent="0" marL="0">
              <a:buNone/>
            </a:pPr>
            <a:r>
              <a:rPr lang="en-US" sz="1600" b="1" dirty="0">
                <a:solidFill>
                  <a:schemeClr val="tx1"/>
                </a:solidFill>
              </a:rPr>
              <a:t>Who is leaving?</a:t>
            </a:r>
            <a:endParaRPr lang="en-US" sz="1600" dirty="0"/>
          </a:p>
          <a:p>
            <a:pPr indent="0" marL="0">
              <a:buNone/>
            </a:pPr>
            <a:r>
              <a:rPr lang="en-US" sz="1400" dirty="0">
                <a:solidFill>
                  <a:schemeClr val="tx1"/>
                </a:solidFill>
              </a:rPr>
              <a:t>Age group, gender, education field</a:t>
            </a:r>
            <a:endParaRPr lang="en-US" sz="1600" dirty="0"/>
          </a:p>
        </p:txBody>
      </p:sp>
      <p:sp>
        <p:nvSpPr>
          <p:cNvPr id="9" name="Question card 2"/>
          <p:cNvSpPr/>
          <p:nvPr/>
        </p:nvSpPr>
        <p:spPr>
          <a:xfrm>
            <a:off x="4663440" y="2377440"/>
            <a:ext cx="4023360" cy="914400"/>
          </a:xfrm>
          <a:prstGeom prst="roundRect">
            <a:avLst>
              <a:gd name="adj" fmla="val 10000"/>
            </a:avLst>
          </a:prstGeom>
          <a:solidFill>
            <a:schemeClr val="bg2"/>
          </a:solidFill>
          <a:ln w="12700">
            <a:solidFill>
              <a:schemeClr val="bg2"/>
            </a:solidFill>
            <a:prstDash val="solid"/>
          </a:ln>
        </p:spPr>
      </p:sp>
      <p:sp>
        <p:nvSpPr>
          <p:cNvPr id="10" name="Where is it concentrated? circle"/>
          <p:cNvSpPr/>
          <p:nvPr/>
        </p:nvSpPr>
        <p:spPr>
          <a:xfrm>
            <a:off x="4846320" y="2532888"/>
            <a:ext cx="603504" cy="603504"/>
          </a:xfrm>
          <a:prstGeom prst="ellipse">
            <a:avLst/>
          </a:prstGeom>
          <a:solidFill>
            <a:schemeClr val="accent2"/>
          </a:solidFill>
          <a:ln w="12700">
            <a:solidFill>
              <a:schemeClr val="accent2"/>
            </a:solidFill>
            <a:prstDash val="solid"/>
          </a:ln>
        </p:spPr>
      </p:sp>
      <p:pic>
        <p:nvPicPr>
          <p:cNvPr id="11" name="Where is it concentrated?" descr="Where is it concentrated?">    </p:cNvPr>
          <p:cNvPicPr>
            <a:picLocks noChangeAspect="1"/>
          </p:cNvPicPr>
          <p:nvPr/>
        </p:nvPicPr>
        <p:blipFill>
          <a:blip r:embed="rId2"/>
          <a:stretch>
            <a:fillRect/>
          </a:stretch>
        </p:blipFill>
        <p:spPr>
          <a:xfrm>
            <a:off x="5009266" y="2695834"/>
            <a:ext cx="277612" cy="277612"/>
          </a:xfrm>
          <a:prstGeom prst="rect">
            <a:avLst/>
          </a:prstGeom>
        </p:spPr>
      </p:pic>
      <p:sp>
        <p:nvSpPr>
          <p:cNvPr id="12" name="Question text 2"/>
          <p:cNvSpPr txBox="1"/>
          <p:nvPr/>
        </p:nvSpPr>
        <p:spPr>
          <a:xfrm>
            <a:off x="5577840" y="2468880"/>
            <a:ext cx="3017520" cy="731520"/>
          </a:xfrm>
          <a:prstGeom prst="rect">
            <a:avLst/>
          </a:prstGeom>
          <a:noFill/>
          <a:ln/>
        </p:spPr>
        <p:txBody>
          <a:bodyPr wrap="square" lIns="0" tIns="0" rIns="0" bIns="0" rtlCol="0" anchor="ctr"/>
          <a:lstStyle/>
          <a:p>
            <a:pPr indent="0" marL="0">
              <a:buNone/>
            </a:pPr>
            <a:r>
              <a:rPr lang="en-US" sz="1600" b="1" dirty="0">
                <a:solidFill>
                  <a:schemeClr val="tx1"/>
                </a:solidFill>
              </a:rPr>
              <a:t>Where is it concentrated?</a:t>
            </a:r>
            <a:endParaRPr lang="en-US" sz="1600" dirty="0"/>
          </a:p>
          <a:p>
            <a:pPr indent="0" marL="0">
              <a:buNone/>
            </a:pPr>
            <a:r>
              <a:rPr lang="en-US" sz="1400" dirty="0">
                <a:solidFill>
                  <a:schemeClr val="tx1"/>
                </a:solidFill>
              </a:rPr>
              <a:t>Job role and years at company</a:t>
            </a:r>
            <a:endParaRPr lang="en-US" sz="1600" dirty="0"/>
          </a:p>
        </p:txBody>
      </p:sp>
      <p:sp>
        <p:nvSpPr>
          <p:cNvPr id="13" name="Question card 3"/>
          <p:cNvSpPr/>
          <p:nvPr/>
        </p:nvSpPr>
        <p:spPr>
          <a:xfrm>
            <a:off x="4663440" y="3474720"/>
            <a:ext cx="4023360" cy="914400"/>
          </a:xfrm>
          <a:prstGeom prst="roundRect">
            <a:avLst>
              <a:gd name="adj" fmla="val 10000"/>
            </a:avLst>
          </a:prstGeom>
          <a:solidFill>
            <a:schemeClr val="bg2"/>
          </a:solidFill>
          <a:ln w="12700">
            <a:solidFill>
              <a:schemeClr val="bg2"/>
            </a:solidFill>
            <a:prstDash val="solid"/>
          </a:ln>
        </p:spPr>
      </p:sp>
      <p:sp>
        <p:nvSpPr>
          <p:cNvPr id="14" name="What may be driving it? circle"/>
          <p:cNvSpPr/>
          <p:nvPr/>
        </p:nvSpPr>
        <p:spPr>
          <a:xfrm>
            <a:off x="4846320" y="3630168"/>
            <a:ext cx="603504" cy="603504"/>
          </a:xfrm>
          <a:prstGeom prst="ellipse">
            <a:avLst/>
          </a:prstGeom>
          <a:solidFill>
            <a:schemeClr val="accent4"/>
          </a:solidFill>
          <a:ln w="12700">
            <a:solidFill>
              <a:schemeClr val="accent4"/>
            </a:solidFill>
            <a:prstDash val="solid"/>
          </a:ln>
        </p:spPr>
      </p:sp>
      <p:pic>
        <p:nvPicPr>
          <p:cNvPr id="15" name="What may be driving it?" descr="What may be driving it?">    </p:cNvPr>
          <p:cNvPicPr>
            <a:picLocks noChangeAspect="1"/>
          </p:cNvPicPr>
          <p:nvPr/>
        </p:nvPicPr>
        <p:blipFill>
          <a:blip r:embed="rId3"/>
          <a:stretch>
            <a:fillRect/>
          </a:stretch>
        </p:blipFill>
        <p:spPr>
          <a:xfrm>
            <a:off x="5009266" y="3793114"/>
            <a:ext cx="277612" cy="277612"/>
          </a:xfrm>
          <a:prstGeom prst="rect">
            <a:avLst/>
          </a:prstGeom>
        </p:spPr>
      </p:pic>
      <p:sp>
        <p:nvSpPr>
          <p:cNvPr id="16" name="Question text 3"/>
          <p:cNvSpPr txBox="1"/>
          <p:nvPr/>
        </p:nvSpPr>
        <p:spPr>
          <a:xfrm>
            <a:off x="5577840" y="3566160"/>
            <a:ext cx="3017520" cy="731520"/>
          </a:xfrm>
          <a:prstGeom prst="rect">
            <a:avLst/>
          </a:prstGeom>
          <a:noFill/>
          <a:ln/>
        </p:spPr>
        <p:txBody>
          <a:bodyPr wrap="square" lIns="0" tIns="0" rIns="0" bIns="0" rtlCol="0" anchor="ctr"/>
          <a:lstStyle/>
          <a:p>
            <a:pPr indent="0" marL="0">
              <a:buNone/>
            </a:pPr>
            <a:r>
              <a:rPr lang="en-US" sz="1600" b="1" dirty="0">
                <a:solidFill>
                  <a:schemeClr val="tx1"/>
                </a:solidFill>
              </a:rPr>
              <a:t>What may be driving it?</a:t>
            </a:r>
            <a:endParaRPr lang="en-US" sz="1600" dirty="0"/>
          </a:p>
          <a:p>
            <a:pPr indent="0" marL="0">
              <a:buNone/>
            </a:pPr>
            <a:r>
              <a:rPr lang="en-US" sz="1400" dirty="0">
                <a:solidFill>
                  <a:schemeClr val="tx1"/>
                </a:solidFill>
              </a:rPr>
              <a:t>Salary slab and job satisfaction</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200" b="1" dirty="0">
                <a:solidFill>
                  <a:schemeClr val="tx1"/>
                </a:solidFill>
              </a:rPr>
              <a:t>Key metrics tracked</a:t>
            </a:r>
            <a:endParaRPr lang="en-US" sz="3200" dirty="0"/>
          </a:p>
        </p:txBody>
      </p:sp>
      <p:sp>
        <p:nvSpPr>
          <p:cNvPr id="3" name="KPI card 1"/>
          <p:cNvSpPr/>
          <p:nvPr/>
        </p:nvSpPr>
        <p:spPr>
          <a:xfrm>
            <a:off x="457200" y="1325880"/>
            <a:ext cx="2606040" cy="1508760"/>
          </a:xfrm>
          <a:prstGeom prst="roundRect">
            <a:avLst>
              <a:gd name="adj" fmla="val 6061"/>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4" name="Employees circle"/>
          <p:cNvSpPr/>
          <p:nvPr/>
        </p:nvSpPr>
        <p:spPr>
          <a:xfrm>
            <a:off x="640080" y="1490472"/>
            <a:ext cx="502920" cy="502920"/>
          </a:xfrm>
          <a:prstGeom prst="ellipse">
            <a:avLst/>
          </a:prstGeom>
          <a:solidFill>
            <a:schemeClr val="accent4"/>
          </a:solidFill>
          <a:ln w="12700">
            <a:solidFill>
              <a:schemeClr val="accent4"/>
            </a:solidFill>
            <a:prstDash val="solid"/>
          </a:ln>
        </p:spPr>
      </p:sp>
      <p:pic>
        <p:nvPicPr>
          <p:cNvPr id="5" name="Employees" descr="Employees">    </p:cNvPr>
          <p:cNvPicPr>
            <a:picLocks noChangeAspect="1"/>
          </p:cNvPicPr>
          <p:nvPr/>
        </p:nvPicPr>
        <p:blipFill>
          <a:blip r:embed="rId1"/>
          <a:stretch>
            <a:fillRect/>
          </a:stretch>
        </p:blipFill>
        <p:spPr>
          <a:xfrm>
            <a:off x="775868" y="1626260"/>
            <a:ext cx="231343" cy="231343"/>
          </a:xfrm>
          <a:prstGeom prst="rect">
            <a:avLst/>
          </a:prstGeom>
        </p:spPr>
      </p:pic>
      <p:sp>
        <p:nvSpPr>
          <p:cNvPr id="6" name="KPI name 1"/>
          <p:cNvSpPr txBox="1"/>
          <p:nvPr/>
        </p:nvSpPr>
        <p:spPr>
          <a:xfrm>
            <a:off x="1280160" y="1490472"/>
            <a:ext cx="1691640" cy="502920"/>
          </a:xfrm>
          <a:prstGeom prst="rect">
            <a:avLst/>
          </a:prstGeom>
          <a:noFill/>
          <a:ln/>
        </p:spPr>
        <p:txBody>
          <a:bodyPr wrap="square" lIns="0" tIns="0" rIns="0" bIns="0" rtlCol="0" anchor="ctr"/>
          <a:lstStyle/>
          <a:p>
            <a:pPr indent="0" marL="0">
              <a:buNone/>
            </a:pPr>
            <a:r>
              <a:rPr lang="en-US" sz="1600" b="1" dirty="0">
                <a:solidFill>
                  <a:schemeClr val="tx1"/>
                </a:solidFill>
              </a:rPr>
              <a:t>Employees</a:t>
            </a:r>
            <a:endParaRPr lang="en-US" sz="1600" dirty="0"/>
          </a:p>
        </p:txBody>
      </p:sp>
      <p:sp>
        <p:nvSpPr>
          <p:cNvPr id="7" name="KPI value 1"/>
          <p:cNvSpPr txBox="1"/>
          <p:nvPr/>
        </p:nvSpPr>
        <p:spPr>
          <a:xfrm>
            <a:off x="640080" y="2039112"/>
            <a:ext cx="2286000" cy="457200"/>
          </a:xfrm>
          <a:prstGeom prst="rect">
            <a:avLst/>
          </a:prstGeom>
          <a:noFill/>
          <a:ln/>
        </p:spPr>
        <p:txBody>
          <a:bodyPr wrap="square" lIns="0" tIns="0" rIns="0" bIns="0" rtlCol="0" anchor="ctr"/>
          <a:lstStyle/>
          <a:p>
            <a:pPr indent="0" marL="0">
              <a:buNone/>
            </a:pPr>
            <a:r>
              <a:rPr lang="en-US" sz="2800" b="1" dirty="0">
                <a:solidFill>
                  <a:schemeClr val="accent1"/>
                </a:solidFill>
              </a:rPr>
              <a:t>1,480</a:t>
            </a:r>
            <a:endParaRPr lang="en-US" sz="2800" dirty="0"/>
          </a:p>
        </p:txBody>
      </p:sp>
      <p:sp>
        <p:nvSpPr>
          <p:cNvPr id="8" name="KPI definition 1"/>
          <p:cNvSpPr txBox="1"/>
          <p:nvPr/>
        </p:nvSpPr>
        <p:spPr>
          <a:xfrm>
            <a:off x="640080" y="2514600"/>
            <a:ext cx="2286000" cy="256032"/>
          </a:xfrm>
          <a:prstGeom prst="rect">
            <a:avLst/>
          </a:prstGeom>
          <a:noFill/>
          <a:ln/>
        </p:spPr>
        <p:txBody>
          <a:bodyPr wrap="square" lIns="0" tIns="0" rIns="0" bIns="0" rtlCol="0" anchor="ctr"/>
          <a:lstStyle/>
          <a:p>
            <a:pPr indent="0" marL="0">
              <a:buNone/>
            </a:pPr>
            <a:r>
              <a:rPr lang="en-US" sz="1200" dirty="0">
                <a:solidFill>
                  <a:schemeClr val="tx2"/>
                </a:solidFill>
              </a:rPr>
              <a:t>Distinct employees</a:t>
            </a:r>
            <a:endParaRPr lang="en-US" sz="1200" dirty="0"/>
          </a:p>
        </p:txBody>
      </p:sp>
      <p:sp>
        <p:nvSpPr>
          <p:cNvPr id="9" name="KPI card 2"/>
          <p:cNvSpPr/>
          <p:nvPr/>
        </p:nvSpPr>
        <p:spPr>
          <a:xfrm>
            <a:off x="3246120" y="1325880"/>
            <a:ext cx="2606040" cy="1508760"/>
          </a:xfrm>
          <a:prstGeom prst="roundRect">
            <a:avLst>
              <a:gd name="adj" fmla="val 6061"/>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0" name="Attrition circle"/>
          <p:cNvSpPr/>
          <p:nvPr/>
        </p:nvSpPr>
        <p:spPr>
          <a:xfrm>
            <a:off x="3429000" y="1490472"/>
            <a:ext cx="502920" cy="502920"/>
          </a:xfrm>
          <a:prstGeom prst="ellipse">
            <a:avLst/>
          </a:prstGeom>
          <a:solidFill>
            <a:schemeClr val="accent1"/>
          </a:solidFill>
          <a:ln w="12700">
            <a:solidFill>
              <a:schemeClr val="accent1"/>
            </a:solidFill>
            <a:prstDash val="solid"/>
          </a:ln>
        </p:spPr>
      </p:sp>
      <p:pic>
        <p:nvPicPr>
          <p:cNvPr id="11" name="Attrition" descr="Attrition">    </p:cNvPr>
          <p:cNvPicPr>
            <a:picLocks noChangeAspect="1"/>
          </p:cNvPicPr>
          <p:nvPr/>
        </p:nvPicPr>
        <p:blipFill>
          <a:blip r:embed="rId2"/>
          <a:stretch>
            <a:fillRect/>
          </a:stretch>
        </p:blipFill>
        <p:spPr>
          <a:xfrm>
            <a:off x="3564788" y="1626260"/>
            <a:ext cx="231343" cy="231343"/>
          </a:xfrm>
          <a:prstGeom prst="rect">
            <a:avLst/>
          </a:prstGeom>
        </p:spPr>
      </p:pic>
      <p:sp>
        <p:nvSpPr>
          <p:cNvPr id="12" name="KPI name 2"/>
          <p:cNvSpPr txBox="1"/>
          <p:nvPr/>
        </p:nvSpPr>
        <p:spPr>
          <a:xfrm>
            <a:off x="4069080" y="1490472"/>
            <a:ext cx="1691640" cy="502920"/>
          </a:xfrm>
          <a:prstGeom prst="rect">
            <a:avLst/>
          </a:prstGeom>
          <a:noFill/>
          <a:ln/>
        </p:spPr>
        <p:txBody>
          <a:bodyPr wrap="square" lIns="0" tIns="0" rIns="0" bIns="0" rtlCol="0" anchor="ctr"/>
          <a:lstStyle/>
          <a:p>
            <a:pPr indent="0" marL="0">
              <a:buNone/>
            </a:pPr>
            <a:r>
              <a:rPr lang="en-US" sz="1600" b="1" dirty="0">
                <a:solidFill>
                  <a:schemeClr val="tx1"/>
                </a:solidFill>
              </a:rPr>
              <a:t>Attrition</a:t>
            </a:r>
            <a:endParaRPr lang="en-US" sz="1600" dirty="0"/>
          </a:p>
        </p:txBody>
      </p:sp>
      <p:sp>
        <p:nvSpPr>
          <p:cNvPr id="13" name="KPI value 2"/>
          <p:cNvSpPr txBox="1"/>
          <p:nvPr/>
        </p:nvSpPr>
        <p:spPr>
          <a:xfrm>
            <a:off x="3429000" y="2039112"/>
            <a:ext cx="2286000" cy="457200"/>
          </a:xfrm>
          <a:prstGeom prst="rect">
            <a:avLst/>
          </a:prstGeom>
          <a:noFill/>
          <a:ln/>
        </p:spPr>
        <p:txBody>
          <a:bodyPr wrap="square" lIns="0" tIns="0" rIns="0" bIns="0" rtlCol="0" anchor="ctr"/>
          <a:lstStyle/>
          <a:p>
            <a:pPr indent="0" marL="0">
              <a:buNone/>
            </a:pPr>
            <a:r>
              <a:rPr lang="en-US" sz="2800" b="1" dirty="0">
                <a:solidFill>
                  <a:schemeClr val="accent1"/>
                </a:solidFill>
              </a:rPr>
              <a:t>238</a:t>
            </a:r>
            <a:endParaRPr lang="en-US" sz="2800" dirty="0"/>
          </a:p>
        </p:txBody>
      </p:sp>
      <p:sp>
        <p:nvSpPr>
          <p:cNvPr id="14" name="KPI definition 2"/>
          <p:cNvSpPr txBox="1"/>
          <p:nvPr/>
        </p:nvSpPr>
        <p:spPr>
          <a:xfrm>
            <a:off x="3429000" y="2514600"/>
            <a:ext cx="2286000" cy="256032"/>
          </a:xfrm>
          <a:prstGeom prst="rect">
            <a:avLst/>
          </a:prstGeom>
          <a:noFill/>
          <a:ln/>
        </p:spPr>
        <p:txBody>
          <a:bodyPr wrap="square" lIns="0" tIns="0" rIns="0" bIns="0" rtlCol="0" anchor="ctr"/>
          <a:lstStyle/>
          <a:p>
            <a:pPr indent="0" marL="0">
              <a:buNone/>
            </a:pPr>
            <a:r>
              <a:rPr lang="en-US" sz="1200" dirty="0">
                <a:solidFill>
                  <a:schemeClr val="tx2"/>
                </a:solidFill>
              </a:rPr>
              <a:t>Employees who left</a:t>
            </a:r>
            <a:endParaRPr lang="en-US" sz="1200" dirty="0"/>
          </a:p>
        </p:txBody>
      </p:sp>
      <p:sp>
        <p:nvSpPr>
          <p:cNvPr id="15" name="KPI card 3"/>
          <p:cNvSpPr/>
          <p:nvPr/>
        </p:nvSpPr>
        <p:spPr>
          <a:xfrm>
            <a:off x="6035040" y="1325880"/>
            <a:ext cx="2606040" cy="1508760"/>
          </a:xfrm>
          <a:prstGeom prst="roundRect">
            <a:avLst>
              <a:gd name="adj" fmla="val 6061"/>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6" name="Attrition rate circle"/>
          <p:cNvSpPr/>
          <p:nvPr/>
        </p:nvSpPr>
        <p:spPr>
          <a:xfrm>
            <a:off x="6217920" y="1490472"/>
            <a:ext cx="502920" cy="502920"/>
          </a:xfrm>
          <a:prstGeom prst="ellipse">
            <a:avLst/>
          </a:prstGeom>
          <a:solidFill>
            <a:schemeClr val="accent1"/>
          </a:solidFill>
          <a:ln w="12700">
            <a:solidFill>
              <a:schemeClr val="accent1"/>
            </a:solidFill>
            <a:prstDash val="solid"/>
          </a:ln>
        </p:spPr>
      </p:sp>
      <p:pic>
        <p:nvPicPr>
          <p:cNvPr id="17" name="Attrition rate" descr="Attrition rate">    </p:cNvPr>
          <p:cNvPicPr>
            <a:picLocks noChangeAspect="1"/>
          </p:cNvPicPr>
          <p:nvPr/>
        </p:nvPicPr>
        <p:blipFill>
          <a:blip r:embed="rId3"/>
          <a:stretch>
            <a:fillRect/>
          </a:stretch>
        </p:blipFill>
        <p:spPr>
          <a:xfrm>
            <a:off x="6353708" y="1626260"/>
            <a:ext cx="231343" cy="231343"/>
          </a:xfrm>
          <a:prstGeom prst="rect">
            <a:avLst/>
          </a:prstGeom>
        </p:spPr>
      </p:pic>
      <p:sp>
        <p:nvSpPr>
          <p:cNvPr id="18" name="KPI name 3"/>
          <p:cNvSpPr txBox="1"/>
          <p:nvPr/>
        </p:nvSpPr>
        <p:spPr>
          <a:xfrm>
            <a:off x="6858000" y="1490472"/>
            <a:ext cx="1691640" cy="502920"/>
          </a:xfrm>
          <a:prstGeom prst="rect">
            <a:avLst/>
          </a:prstGeom>
          <a:noFill/>
          <a:ln/>
        </p:spPr>
        <p:txBody>
          <a:bodyPr wrap="square" lIns="0" tIns="0" rIns="0" bIns="0" rtlCol="0" anchor="ctr"/>
          <a:lstStyle/>
          <a:p>
            <a:pPr indent="0" marL="0">
              <a:buNone/>
            </a:pPr>
            <a:r>
              <a:rPr lang="en-US" sz="1600" b="1" dirty="0">
                <a:solidFill>
                  <a:schemeClr val="tx1"/>
                </a:solidFill>
              </a:rPr>
              <a:t>Attrition rate</a:t>
            </a:r>
            <a:endParaRPr lang="en-US" sz="1600" dirty="0"/>
          </a:p>
        </p:txBody>
      </p:sp>
      <p:sp>
        <p:nvSpPr>
          <p:cNvPr id="19" name="KPI value 3"/>
          <p:cNvSpPr txBox="1"/>
          <p:nvPr/>
        </p:nvSpPr>
        <p:spPr>
          <a:xfrm>
            <a:off x="6217920" y="2039112"/>
            <a:ext cx="2286000" cy="457200"/>
          </a:xfrm>
          <a:prstGeom prst="rect">
            <a:avLst/>
          </a:prstGeom>
          <a:noFill/>
          <a:ln/>
        </p:spPr>
        <p:txBody>
          <a:bodyPr wrap="square" lIns="0" tIns="0" rIns="0" bIns="0" rtlCol="0" anchor="ctr"/>
          <a:lstStyle/>
          <a:p>
            <a:pPr indent="0" marL="0">
              <a:buNone/>
            </a:pPr>
            <a:r>
              <a:rPr lang="en-US" sz="2800" b="1" dirty="0">
                <a:solidFill>
                  <a:schemeClr val="accent1"/>
                </a:solidFill>
              </a:rPr>
              <a:t>16.1%</a:t>
            </a:r>
            <a:endParaRPr lang="en-US" sz="2800" dirty="0"/>
          </a:p>
        </p:txBody>
      </p:sp>
      <p:sp>
        <p:nvSpPr>
          <p:cNvPr id="20" name="KPI definition 3"/>
          <p:cNvSpPr txBox="1"/>
          <p:nvPr/>
        </p:nvSpPr>
        <p:spPr>
          <a:xfrm>
            <a:off x="6217920" y="2514600"/>
            <a:ext cx="2286000" cy="256032"/>
          </a:xfrm>
          <a:prstGeom prst="rect">
            <a:avLst/>
          </a:prstGeom>
          <a:noFill/>
          <a:ln/>
        </p:spPr>
        <p:txBody>
          <a:bodyPr wrap="square" lIns="0" tIns="0" rIns="0" bIns="0" rtlCol="0" anchor="ctr"/>
          <a:lstStyle/>
          <a:p>
            <a:pPr indent="0" marL="0">
              <a:buNone/>
            </a:pPr>
            <a:r>
              <a:rPr lang="en-US" sz="1200" dirty="0">
                <a:solidFill>
                  <a:schemeClr val="tx2"/>
                </a:solidFill>
              </a:rPr>
              <a:t>Attrition / headcount</a:t>
            </a:r>
            <a:endParaRPr lang="en-US" sz="1200" dirty="0"/>
          </a:p>
        </p:txBody>
      </p:sp>
      <p:sp>
        <p:nvSpPr>
          <p:cNvPr id="21" name="KPI card 4"/>
          <p:cNvSpPr/>
          <p:nvPr/>
        </p:nvSpPr>
        <p:spPr>
          <a:xfrm>
            <a:off x="457200" y="3017520"/>
            <a:ext cx="2606040" cy="1508760"/>
          </a:xfrm>
          <a:prstGeom prst="roundRect">
            <a:avLst>
              <a:gd name="adj" fmla="val 6061"/>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22" name="Average age circle"/>
          <p:cNvSpPr/>
          <p:nvPr/>
        </p:nvSpPr>
        <p:spPr>
          <a:xfrm>
            <a:off x="640080" y="3182112"/>
            <a:ext cx="502920" cy="502920"/>
          </a:xfrm>
          <a:prstGeom prst="ellipse">
            <a:avLst/>
          </a:prstGeom>
          <a:solidFill>
            <a:schemeClr val="accent2"/>
          </a:solidFill>
          <a:ln w="12700">
            <a:solidFill>
              <a:schemeClr val="accent2"/>
            </a:solidFill>
            <a:prstDash val="solid"/>
          </a:ln>
        </p:spPr>
      </p:sp>
      <p:pic>
        <p:nvPicPr>
          <p:cNvPr id="23" name="Average age" descr="Average age">    </p:cNvPr>
          <p:cNvPicPr>
            <a:picLocks noChangeAspect="1"/>
          </p:cNvPicPr>
          <p:nvPr/>
        </p:nvPicPr>
        <p:blipFill>
          <a:blip r:embed="rId4"/>
          <a:stretch>
            <a:fillRect/>
          </a:stretch>
        </p:blipFill>
        <p:spPr>
          <a:xfrm>
            <a:off x="775868" y="3317900"/>
            <a:ext cx="231343" cy="231343"/>
          </a:xfrm>
          <a:prstGeom prst="rect">
            <a:avLst/>
          </a:prstGeom>
        </p:spPr>
      </p:pic>
      <p:sp>
        <p:nvSpPr>
          <p:cNvPr id="24" name="KPI name 4"/>
          <p:cNvSpPr txBox="1"/>
          <p:nvPr/>
        </p:nvSpPr>
        <p:spPr>
          <a:xfrm>
            <a:off x="1280160" y="3182112"/>
            <a:ext cx="1691640" cy="502920"/>
          </a:xfrm>
          <a:prstGeom prst="rect">
            <a:avLst/>
          </a:prstGeom>
          <a:noFill/>
          <a:ln/>
        </p:spPr>
        <p:txBody>
          <a:bodyPr wrap="square" lIns="0" tIns="0" rIns="0" bIns="0" rtlCol="0" anchor="ctr"/>
          <a:lstStyle/>
          <a:p>
            <a:pPr indent="0" marL="0">
              <a:buNone/>
            </a:pPr>
            <a:r>
              <a:rPr lang="en-US" sz="1600" b="1" dirty="0">
                <a:solidFill>
                  <a:schemeClr val="tx1"/>
                </a:solidFill>
              </a:rPr>
              <a:t>Average age</a:t>
            </a:r>
            <a:endParaRPr lang="en-US" sz="1600" dirty="0"/>
          </a:p>
        </p:txBody>
      </p:sp>
      <p:sp>
        <p:nvSpPr>
          <p:cNvPr id="25" name="KPI value 4"/>
          <p:cNvSpPr txBox="1"/>
          <p:nvPr/>
        </p:nvSpPr>
        <p:spPr>
          <a:xfrm>
            <a:off x="640080" y="3730752"/>
            <a:ext cx="2286000" cy="457200"/>
          </a:xfrm>
          <a:prstGeom prst="rect">
            <a:avLst/>
          </a:prstGeom>
          <a:noFill/>
          <a:ln/>
        </p:spPr>
        <p:txBody>
          <a:bodyPr wrap="square" lIns="0" tIns="0" rIns="0" bIns="0" rtlCol="0" anchor="ctr"/>
          <a:lstStyle/>
          <a:p>
            <a:pPr indent="0" marL="0">
              <a:buNone/>
            </a:pPr>
            <a:r>
              <a:rPr lang="en-US" sz="2800" b="1" dirty="0">
                <a:solidFill>
                  <a:schemeClr val="accent1"/>
                </a:solidFill>
              </a:rPr>
              <a:t>37</a:t>
            </a:r>
            <a:endParaRPr lang="en-US" sz="2800" dirty="0"/>
          </a:p>
        </p:txBody>
      </p:sp>
      <p:sp>
        <p:nvSpPr>
          <p:cNvPr id="26" name="KPI definition 4"/>
          <p:cNvSpPr txBox="1"/>
          <p:nvPr/>
        </p:nvSpPr>
        <p:spPr>
          <a:xfrm>
            <a:off x="640080" y="4206240"/>
            <a:ext cx="2286000" cy="256032"/>
          </a:xfrm>
          <a:prstGeom prst="rect">
            <a:avLst/>
          </a:prstGeom>
          <a:noFill/>
          <a:ln/>
        </p:spPr>
        <p:txBody>
          <a:bodyPr wrap="square" lIns="0" tIns="0" rIns="0" bIns="0" rtlCol="0" anchor="ctr"/>
          <a:lstStyle/>
          <a:p>
            <a:pPr indent="0" marL="0">
              <a:buNone/>
            </a:pPr>
            <a:r>
              <a:rPr lang="en-US" sz="1200" dirty="0">
                <a:solidFill>
                  <a:schemeClr val="tx2"/>
                </a:solidFill>
              </a:rPr>
              <a:t>Mean age in years</a:t>
            </a:r>
            <a:endParaRPr lang="en-US" sz="1200" dirty="0"/>
          </a:p>
        </p:txBody>
      </p:sp>
      <p:sp>
        <p:nvSpPr>
          <p:cNvPr id="27" name="KPI card 5"/>
          <p:cNvSpPr/>
          <p:nvPr/>
        </p:nvSpPr>
        <p:spPr>
          <a:xfrm>
            <a:off x="3246120" y="3017520"/>
            <a:ext cx="2606040" cy="1508760"/>
          </a:xfrm>
          <a:prstGeom prst="roundRect">
            <a:avLst>
              <a:gd name="adj" fmla="val 6061"/>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28" name="Average salary circle"/>
          <p:cNvSpPr/>
          <p:nvPr/>
        </p:nvSpPr>
        <p:spPr>
          <a:xfrm>
            <a:off x="3429000" y="3182112"/>
            <a:ext cx="502920" cy="502920"/>
          </a:xfrm>
          <a:prstGeom prst="ellipse">
            <a:avLst/>
          </a:prstGeom>
          <a:solidFill>
            <a:schemeClr val="accent2"/>
          </a:solidFill>
          <a:ln w="12700">
            <a:solidFill>
              <a:schemeClr val="accent2"/>
            </a:solidFill>
            <a:prstDash val="solid"/>
          </a:ln>
        </p:spPr>
      </p:sp>
      <p:pic>
        <p:nvPicPr>
          <p:cNvPr id="29" name="Average salary" descr="Average salary">    </p:cNvPr>
          <p:cNvPicPr>
            <a:picLocks noChangeAspect="1"/>
          </p:cNvPicPr>
          <p:nvPr/>
        </p:nvPicPr>
        <p:blipFill>
          <a:blip r:embed="rId5"/>
          <a:stretch>
            <a:fillRect/>
          </a:stretch>
        </p:blipFill>
        <p:spPr>
          <a:xfrm>
            <a:off x="3564788" y="3317900"/>
            <a:ext cx="231343" cy="231343"/>
          </a:xfrm>
          <a:prstGeom prst="rect">
            <a:avLst/>
          </a:prstGeom>
        </p:spPr>
      </p:pic>
      <p:sp>
        <p:nvSpPr>
          <p:cNvPr id="30" name="KPI name 5"/>
          <p:cNvSpPr txBox="1"/>
          <p:nvPr/>
        </p:nvSpPr>
        <p:spPr>
          <a:xfrm>
            <a:off x="4069080" y="3182112"/>
            <a:ext cx="1691640" cy="502920"/>
          </a:xfrm>
          <a:prstGeom prst="rect">
            <a:avLst/>
          </a:prstGeom>
          <a:noFill/>
          <a:ln/>
        </p:spPr>
        <p:txBody>
          <a:bodyPr wrap="square" lIns="0" tIns="0" rIns="0" bIns="0" rtlCol="0" anchor="ctr"/>
          <a:lstStyle/>
          <a:p>
            <a:pPr indent="0" marL="0">
              <a:buNone/>
            </a:pPr>
            <a:r>
              <a:rPr lang="en-US" sz="1600" b="1" dirty="0">
                <a:solidFill>
                  <a:schemeClr val="tx1"/>
                </a:solidFill>
              </a:rPr>
              <a:t>Average salary</a:t>
            </a:r>
            <a:endParaRPr lang="en-US" sz="1600" dirty="0"/>
          </a:p>
        </p:txBody>
      </p:sp>
      <p:sp>
        <p:nvSpPr>
          <p:cNvPr id="31" name="KPI value 5"/>
          <p:cNvSpPr txBox="1"/>
          <p:nvPr/>
        </p:nvSpPr>
        <p:spPr>
          <a:xfrm>
            <a:off x="3429000" y="3730752"/>
            <a:ext cx="2286000" cy="457200"/>
          </a:xfrm>
          <a:prstGeom prst="rect">
            <a:avLst/>
          </a:prstGeom>
          <a:noFill/>
          <a:ln/>
        </p:spPr>
        <p:txBody>
          <a:bodyPr wrap="square" lIns="0" tIns="0" rIns="0" bIns="0" rtlCol="0" anchor="ctr"/>
          <a:lstStyle/>
          <a:p>
            <a:pPr indent="0" marL="0">
              <a:buNone/>
            </a:pPr>
            <a:r>
              <a:rPr lang="en-US" sz="2800" b="1" dirty="0">
                <a:solidFill>
                  <a:schemeClr val="accent1"/>
                </a:solidFill>
              </a:rPr>
              <a:t>6.5K</a:t>
            </a:r>
            <a:endParaRPr lang="en-US" sz="2800" dirty="0"/>
          </a:p>
        </p:txBody>
      </p:sp>
      <p:sp>
        <p:nvSpPr>
          <p:cNvPr id="32" name="KPI definition 5"/>
          <p:cNvSpPr txBox="1"/>
          <p:nvPr/>
        </p:nvSpPr>
        <p:spPr>
          <a:xfrm>
            <a:off x="3429000" y="4206240"/>
            <a:ext cx="2286000" cy="256032"/>
          </a:xfrm>
          <a:prstGeom prst="rect">
            <a:avLst/>
          </a:prstGeom>
          <a:noFill/>
          <a:ln/>
        </p:spPr>
        <p:txBody>
          <a:bodyPr wrap="square" lIns="0" tIns="0" rIns="0" bIns="0" rtlCol="0" anchor="ctr"/>
          <a:lstStyle/>
          <a:p>
            <a:pPr indent="0" marL="0">
              <a:buNone/>
            </a:pPr>
            <a:r>
              <a:rPr lang="en-US" sz="1200" dirty="0">
                <a:solidFill>
                  <a:schemeClr val="tx2"/>
                </a:solidFill>
              </a:rPr>
              <a:t>Mean monthly income</a:t>
            </a:r>
            <a:endParaRPr lang="en-US" sz="1200" dirty="0"/>
          </a:p>
        </p:txBody>
      </p:sp>
      <p:sp>
        <p:nvSpPr>
          <p:cNvPr id="33" name="KPI card 6"/>
          <p:cNvSpPr/>
          <p:nvPr/>
        </p:nvSpPr>
        <p:spPr>
          <a:xfrm>
            <a:off x="6035040" y="3017520"/>
            <a:ext cx="2606040" cy="1508760"/>
          </a:xfrm>
          <a:prstGeom prst="roundRect">
            <a:avLst>
              <a:gd name="adj" fmla="val 6061"/>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34" name="Average tenure circle"/>
          <p:cNvSpPr/>
          <p:nvPr/>
        </p:nvSpPr>
        <p:spPr>
          <a:xfrm>
            <a:off x="6217920" y="3182112"/>
            <a:ext cx="502920" cy="502920"/>
          </a:xfrm>
          <a:prstGeom prst="ellipse">
            <a:avLst/>
          </a:prstGeom>
          <a:solidFill>
            <a:schemeClr val="accent2"/>
          </a:solidFill>
          <a:ln w="12700">
            <a:solidFill>
              <a:schemeClr val="accent2"/>
            </a:solidFill>
            <a:prstDash val="solid"/>
          </a:ln>
        </p:spPr>
      </p:sp>
      <p:pic>
        <p:nvPicPr>
          <p:cNvPr id="35" name="Average tenure" descr="Average tenure">    </p:cNvPr>
          <p:cNvPicPr>
            <a:picLocks noChangeAspect="1"/>
          </p:cNvPicPr>
          <p:nvPr/>
        </p:nvPicPr>
        <p:blipFill>
          <a:blip r:embed="rId6"/>
          <a:stretch>
            <a:fillRect/>
          </a:stretch>
        </p:blipFill>
        <p:spPr>
          <a:xfrm>
            <a:off x="6353708" y="3317900"/>
            <a:ext cx="231343" cy="231343"/>
          </a:xfrm>
          <a:prstGeom prst="rect">
            <a:avLst/>
          </a:prstGeom>
        </p:spPr>
      </p:pic>
      <p:sp>
        <p:nvSpPr>
          <p:cNvPr id="36" name="KPI name 6"/>
          <p:cNvSpPr txBox="1"/>
          <p:nvPr/>
        </p:nvSpPr>
        <p:spPr>
          <a:xfrm>
            <a:off x="6858000" y="3182112"/>
            <a:ext cx="1691640" cy="502920"/>
          </a:xfrm>
          <a:prstGeom prst="rect">
            <a:avLst/>
          </a:prstGeom>
          <a:noFill/>
          <a:ln/>
        </p:spPr>
        <p:txBody>
          <a:bodyPr wrap="square" lIns="0" tIns="0" rIns="0" bIns="0" rtlCol="0" anchor="ctr"/>
          <a:lstStyle/>
          <a:p>
            <a:pPr indent="0" marL="0">
              <a:buNone/>
            </a:pPr>
            <a:r>
              <a:rPr lang="en-US" sz="1600" b="1" dirty="0">
                <a:solidFill>
                  <a:schemeClr val="tx1"/>
                </a:solidFill>
              </a:rPr>
              <a:t>Average tenure</a:t>
            </a:r>
            <a:endParaRPr lang="en-US" sz="1600" dirty="0"/>
          </a:p>
        </p:txBody>
      </p:sp>
      <p:sp>
        <p:nvSpPr>
          <p:cNvPr id="37" name="KPI value 6"/>
          <p:cNvSpPr txBox="1"/>
          <p:nvPr/>
        </p:nvSpPr>
        <p:spPr>
          <a:xfrm>
            <a:off x="6217920" y="3730752"/>
            <a:ext cx="2286000" cy="457200"/>
          </a:xfrm>
          <a:prstGeom prst="rect">
            <a:avLst/>
          </a:prstGeom>
          <a:noFill/>
          <a:ln/>
        </p:spPr>
        <p:txBody>
          <a:bodyPr wrap="square" lIns="0" tIns="0" rIns="0" bIns="0" rtlCol="0" anchor="ctr"/>
          <a:lstStyle/>
          <a:p>
            <a:pPr indent="0" marL="0">
              <a:buNone/>
            </a:pPr>
            <a:r>
              <a:rPr lang="en-US" sz="2800" b="1" dirty="0">
                <a:solidFill>
                  <a:schemeClr val="accent1"/>
                </a:solidFill>
              </a:rPr>
              <a:t>7.0</a:t>
            </a:r>
            <a:endParaRPr lang="en-US" sz="2800" dirty="0"/>
          </a:p>
        </p:txBody>
      </p:sp>
      <p:sp>
        <p:nvSpPr>
          <p:cNvPr id="38" name="KPI definition 6"/>
          <p:cNvSpPr txBox="1"/>
          <p:nvPr/>
        </p:nvSpPr>
        <p:spPr>
          <a:xfrm>
            <a:off x="6217920" y="4206240"/>
            <a:ext cx="2286000" cy="256032"/>
          </a:xfrm>
          <a:prstGeom prst="rect">
            <a:avLst/>
          </a:prstGeom>
          <a:noFill/>
          <a:ln/>
        </p:spPr>
        <p:txBody>
          <a:bodyPr wrap="square" lIns="0" tIns="0" rIns="0" bIns="0" rtlCol="0" anchor="ctr"/>
          <a:lstStyle/>
          <a:p>
            <a:pPr indent="0" marL="0">
              <a:buNone/>
            </a:pPr>
            <a:r>
              <a:rPr lang="en-US" sz="1200" dirty="0">
                <a:solidFill>
                  <a:schemeClr val="tx2"/>
                </a:solidFill>
              </a:rPr>
              <a:t>Mean years at company</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200" b="1" dirty="0">
                <a:solidFill>
                  <a:schemeClr val="tx1"/>
                </a:solidFill>
              </a:rPr>
              <a:t>Dashboard at a glance</a:t>
            </a:r>
            <a:endParaRPr lang="en-US" sz="3200" dirty="0"/>
          </a:p>
        </p:txBody>
      </p:sp>
      <p:pic>
        <p:nvPicPr>
          <p:cNvPr id="3" name="Dashboard screenshot" descr="Screenshot of the HR Analytics Power BI dashboard">    </p:cNvPr>
          <p:cNvPicPr>
            <a:picLocks noChangeAspect="1"/>
          </p:cNvPicPr>
          <p:nvPr/>
        </p:nvPicPr>
        <p:blipFill>
          <a:blip r:embed="rId1"/>
          <a:stretch>
            <a:fillRect/>
          </a:stretch>
        </p:blipFill>
        <p:spPr>
          <a:xfrm>
            <a:off x="457200" y="1280160"/>
            <a:ext cx="5212080" cy="2916422"/>
          </a:xfrm>
          <a:prstGeom prst="rect">
            <a:avLst/>
          </a:prstGeom>
        </p:spPr>
      </p:pic>
      <p:sp>
        <p:nvSpPr>
          <p:cNvPr id="4" name="Views list"/>
          <p:cNvSpPr txBox="1"/>
          <p:nvPr/>
        </p:nvSpPr>
        <p:spPr>
          <a:xfrm>
            <a:off x="6035040" y="1280160"/>
            <a:ext cx="2651760" cy="2926080"/>
          </a:xfrm>
          <a:prstGeom prst="rect">
            <a:avLst/>
          </a:prstGeom>
          <a:noFill/>
          <a:ln/>
        </p:spPr>
        <p:txBody>
          <a:bodyPr wrap="square" rtlCol="0" anchor="t"/>
          <a:lstStyle/>
          <a:p>
            <a:pPr marL="342900" indent="-342900">
              <a:spcAft>
                <a:spcPts val="600"/>
              </a:spcAft>
              <a:buSzPct val="100000"/>
              <a:buChar char="•"/>
            </a:pPr>
            <a:r>
              <a:rPr lang="en-US" sz="1400" dirty="0">
                <a:solidFill>
                  <a:schemeClr val="tx1"/>
                </a:solidFill>
              </a:rPr>
              <a:t>Attrition by age group</a:t>
            </a:r>
            <a:endParaRPr lang="en-US" sz="1400" dirty="0"/>
          </a:p>
          <a:p>
            <a:pPr marL="342900" indent="-342900">
              <a:spcAft>
                <a:spcPts val="600"/>
              </a:spcAft>
              <a:buSzPct val="100000"/>
              <a:buChar char="•"/>
            </a:pPr>
            <a:r>
              <a:rPr lang="en-US" sz="1400" dirty="0">
                <a:solidFill>
                  <a:schemeClr val="tx1"/>
                </a:solidFill>
              </a:rPr>
              <a:t>Attrition by gender</a:t>
            </a:r>
            <a:endParaRPr lang="en-US" sz="1400" dirty="0"/>
          </a:p>
          <a:p>
            <a:pPr marL="342900" indent="-342900">
              <a:spcAft>
                <a:spcPts val="600"/>
              </a:spcAft>
              <a:buSzPct val="100000"/>
              <a:buChar char="•"/>
            </a:pPr>
            <a:r>
              <a:rPr lang="en-US" sz="1400" dirty="0">
                <a:solidFill>
                  <a:schemeClr val="tx1"/>
                </a:solidFill>
              </a:rPr>
              <a:t>Attrition by education field</a:t>
            </a:r>
            <a:endParaRPr lang="en-US" sz="1400" dirty="0"/>
          </a:p>
          <a:p>
            <a:pPr marL="342900" indent="-342900">
              <a:spcAft>
                <a:spcPts val="600"/>
              </a:spcAft>
              <a:buSzPct val="100000"/>
              <a:buChar char="•"/>
            </a:pPr>
            <a:r>
              <a:rPr lang="en-US" sz="1400" dirty="0">
                <a:solidFill>
                  <a:schemeClr val="tx1"/>
                </a:solidFill>
              </a:rPr>
              <a:t>Attrition by job role</a:t>
            </a:r>
            <a:endParaRPr lang="en-US" sz="1400" dirty="0"/>
          </a:p>
          <a:p>
            <a:pPr marL="342900" indent="-342900">
              <a:spcAft>
                <a:spcPts val="600"/>
              </a:spcAft>
              <a:buSzPct val="100000"/>
              <a:buChar char="•"/>
            </a:pPr>
            <a:r>
              <a:rPr lang="en-US" sz="1400" dirty="0">
                <a:solidFill>
                  <a:schemeClr val="tx1"/>
                </a:solidFill>
              </a:rPr>
              <a:t>Attrition by salary slab</a:t>
            </a:r>
            <a:endParaRPr lang="en-US" sz="1400" dirty="0"/>
          </a:p>
          <a:p>
            <a:pPr marL="342900" indent="-342900">
              <a:spcAft>
                <a:spcPts val="600"/>
              </a:spcAft>
              <a:buSzPct val="100000"/>
              <a:buChar char="•"/>
            </a:pPr>
            <a:r>
              <a:rPr lang="en-US" sz="1400" dirty="0">
                <a:solidFill>
                  <a:schemeClr val="tx1"/>
                </a:solidFill>
              </a:rPr>
              <a:t>Attrition by years at company</a:t>
            </a:r>
            <a:endParaRPr lang="en-US" sz="1400" dirty="0"/>
          </a:p>
          <a:p>
            <a:pPr marL="342900" indent="-342900">
              <a:spcAft>
                <a:spcPts val="600"/>
              </a:spcAft>
              <a:buSzPct val="100000"/>
              <a:buChar char="•"/>
            </a:pPr>
            <a:r>
              <a:rPr lang="en-US" sz="1400" dirty="0">
                <a:solidFill>
                  <a:schemeClr val="tx1"/>
                </a:solidFill>
              </a:rPr>
              <a:t>Job role vs job satisfaction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200" b="1" dirty="0">
                <a:solidFill>
                  <a:schemeClr val="tx1"/>
                </a:solidFill>
              </a:rPr>
              <a:t>Who leaves: age and gender</a:t>
            </a:r>
            <a:endParaRPr lang="en-US" sz="3200" dirty="0"/>
          </a:p>
        </p:txBody>
      </p:sp>
      <p:sp>
        <p:nvSpPr>
          <p:cNvPr id="3" name="Attrition by age group"/>
          <p:cNvSpPr txBox="1"/>
          <p:nvPr/>
        </p:nvSpPr>
        <p:spPr>
          <a:xfrm>
            <a:off x="457200" y="1188720"/>
            <a:ext cx="3931920" cy="320040"/>
          </a:xfrm>
          <a:prstGeom prst="rect">
            <a:avLst/>
          </a:prstGeom>
          <a:noFill/>
          <a:ln/>
        </p:spPr>
        <p:txBody>
          <a:bodyPr wrap="square" lIns="0" tIns="0" rIns="0" bIns="0" rtlCol="0" anchor="ctr"/>
          <a:lstStyle/>
          <a:p>
            <a:pPr indent="0" marL="0">
              <a:buNone/>
            </a:pPr>
            <a:r>
              <a:rPr lang="en-US" sz="1600" b="1" dirty="0">
                <a:solidFill>
                  <a:schemeClr val="tx1"/>
                </a:solidFill>
              </a:rPr>
              <a:t>Attrition by age group</a:t>
            </a:r>
            <a:endParaRPr lang="en-US" sz="1600" dirty="0"/>
          </a:p>
        </p:txBody>
      </p:sp>
      <p:graphicFrame>
        <p:nvGraphicFramePr>
          <p:cNvPr id="4" name="Chart: Attrition by age group" descr=""/>
          <p:cNvGraphicFramePr/>
          <p:nvPr/>
        </p:nvGraphicFramePr>
        <p:xfrm>
          <a:off x="457200" y="1600200"/>
          <a:ext cx="3931920" cy="2377440"/>
        </p:xfrm>
        <a:graphic xmlns:a="http://schemas.openxmlformats.org/drawingml/2006/main">
          <a:graphicData uri="http://schemas.openxmlformats.org/drawingml/2006/chart">
            <c:chart xmlns:c="http://schemas.openxmlformats.org/drawingml/2006/chart" r:id="rId1"/>
          </a:graphicData>
        </a:graphic>
      </p:graphicFrame>
      <p:sp>
        <p:nvSpPr>
          <p:cNvPr id="5" name="Finding"/>
          <p:cNvSpPr txBox="1"/>
          <p:nvPr/>
        </p:nvSpPr>
        <p:spPr>
          <a:xfrm>
            <a:off x="457200" y="4069080"/>
            <a:ext cx="3931920" cy="594360"/>
          </a:xfrm>
          <a:prstGeom prst="rect">
            <a:avLst/>
          </a:prstGeom>
          <a:noFill/>
          <a:ln/>
        </p:spPr>
        <p:txBody>
          <a:bodyPr wrap="square" lIns="0" tIns="0" rIns="0" bIns="0" rtlCol="0" anchor="t"/>
          <a:lstStyle/>
          <a:p>
            <a:pPr indent="0" marL="0">
              <a:buNone/>
            </a:pPr>
            <a:r>
              <a:rPr lang="en-US" sz="1400" dirty="0">
                <a:solidFill>
                  <a:schemeClr val="tx2"/>
                </a:solidFill>
              </a:rPr>
              <a:t>Ages 26-35 account for 116 of 238 exits (49%)</a:t>
            </a:r>
            <a:endParaRPr lang="en-US" sz="1400" dirty="0"/>
          </a:p>
        </p:txBody>
      </p:sp>
      <p:sp>
        <p:nvSpPr>
          <p:cNvPr id="6" name="Attrition by gender"/>
          <p:cNvSpPr txBox="1"/>
          <p:nvPr/>
        </p:nvSpPr>
        <p:spPr>
          <a:xfrm>
            <a:off x="4754880" y="1188720"/>
            <a:ext cx="3931920" cy="320040"/>
          </a:xfrm>
          <a:prstGeom prst="rect">
            <a:avLst/>
          </a:prstGeom>
          <a:noFill/>
          <a:ln/>
        </p:spPr>
        <p:txBody>
          <a:bodyPr wrap="square" lIns="0" tIns="0" rIns="0" bIns="0" rtlCol="0" anchor="ctr"/>
          <a:lstStyle/>
          <a:p>
            <a:pPr indent="0" marL="0">
              <a:buNone/>
            </a:pPr>
            <a:r>
              <a:rPr lang="en-US" sz="1600" b="1" dirty="0">
                <a:solidFill>
                  <a:schemeClr val="tx1"/>
                </a:solidFill>
              </a:rPr>
              <a:t>Attrition by gender</a:t>
            </a:r>
            <a:endParaRPr lang="en-US" sz="1600" dirty="0"/>
          </a:p>
        </p:txBody>
      </p:sp>
      <p:graphicFrame>
        <p:nvGraphicFramePr>
          <p:cNvPr id="7" name="Chart: Attrition by gender" descr=""/>
          <p:cNvGraphicFramePr/>
          <p:nvPr/>
        </p:nvGraphicFramePr>
        <p:xfrm>
          <a:off x="4754880" y="1600200"/>
          <a:ext cx="3931920" cy="2377440"/>
        </p:xfrm>
        <a:graphic xmlns:a="http://schemas.openxmlformats.org/drawingml/2006/main">
          <a:graphicData uri="http://schemas.openxmlformats.org/drawingml/2006/chart">
            <c:chart xmlns:c="http://schemas.openxmlformats.org/drawingml/2006/chart" r:id="rId2"/>
          </a:graphicData>
        </a:graphic>
      </p:graphicFrame>
      <p:sp>
        <p:nvSpPr>
          <p:cNvPr id="8" name="Finding"/>
          <p:cNvSpPr txBox="1"/>
          <p:nvPr/>
        </p:nvSpPr>
        <p:spPr>
          <a:xfrm>
            <a:off x="4754880" y="4069080"/>
            <a:ext cx="3931920" cy="594360"/>
          </a:xfrm>
          <a:prstGeom prst="rect">
            <a:avLst/>
          </a:prstGeom>
          <a:noFill/>
          <a:ln/>
        </p:spPr>
        <p:txBody>
          <a:bodyPr wrap="square" lIns="0" tIns="0" rIns="0" bIns="0" rtlCol="0" anchor="t"/>
          <a:lstStyle/>
          <a:p>
            <a:pPr indent="0" marL="0">
              <a:buNone/>
            </a:pPr>
            <a:r>
              <a:rPr lang="en-US" sz="1400" dirty="0">
                <a:solidFill>
                  <a:schemeClr val="tx2"/>
                </a:solidFill>
              </a:rPr>
              <a:t>Men account for 151 exits (63%), women for 87 (37%)</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200" b="1" dirty="0">
                <a:solidFill>
                  <a:schemeClr val="tx1"/>
                </a:solidFill>
              </a:rPr>
              <a:t>Where it happens: education and role</a:t>
            </a:r>
            <a:endParaRPr lang="en-US" sz="3200" dirty="0"/>
          </a:p>
        </p:txBody>
      </p:sp>
      <p:sp>
        <p:nvSpPr>
          <p:cNvPr id="3" name="Attrition by education field"/>
          <p:cNvSpPr txBox="1"/>
          <p:nvPr/>
        </p:nvSpPr>
        <p:spPr>
          <a:xfrm>
            <a:off x="457200" y="1188720"/>
            <a:ext cx="3931920" cy="320040"/>
          </a:xfrm>
          <a:prstGeom prst="rect">
            <a:avLst/>
          </a:prstGeom>
          <a:noFill/>
          <a:ln/>
        </p:spPr>
        <p:txBody>
          <a:bodyPr wrap="square" lIns="0" tIns="0" rIns="0" bIns="0" rtlCol="0" anchor="ctr"/>
          <a:lstStyle/>
          <a:p>
            <a:pPr indent="0" marL="0">
              <a:buNone/>
            </a:pPr>
            <a:r>
              <a:rPr lang="en-US" sz="1600" b="1" dirty="0">
                <a:solidFill>
                  <a:schemeClr val="tx1"/>
                </a:solidFill>
              </a:rPr>
              <a:t>Attrition by education field</a:t>
            </a:r>
            <a:endParaRPr lang="en-US" sz="1600" dirty="0"/>
          </a:p>
        </p:txBody>
      </p:sp>
      <p:graphicFrame>
        <p:nvGraphicFramePr>
          <p:cNvPr id="4" name="Chart: Attrition by education field" descr=""/>
          <p:cNvGraphicFramePr/>
          <p:nvPr/>
        </p:nvGraphicFramePr>
        <p:xfrm>
          <a:off x="457200" y="1600200"/>
          <a:ext cx="3931920" cy="2377440"/>
        </p:xfrm>
        <a:graphic xmlns:a="http://schemas.openxmlformats.org/drawingml/2006/main">
          <a:graphicData uri="http://schemas.openxmlformats.org/drawingml/2006/chart">
            <c:chart xmlns:c="http://schemas.openxmlformats.org/drawingml/2006/chart" r:id="rId1"/>
          </a:graphicData>
        </a:graphic>
      </p:graphicFrame>
      <p:sp>
        <p:nvSpPr>
          <p:cNvPr id="5" name="Finding"/>
          <p:cNvSpPr txBox="1"/>
          <p:nvPr/>
        </p:nvSpPr>
        <p:spPr>
          <a:xfrm>
            <a:off x="457200" y="4069080"/>
            <a:ext cx="3931920" cy="594360"/>
          </a:xfrm>
          <a:prstGeom prst="rect">
            <a:avLst/>
          </a:prstGeom>
          <a:noFill/>
          <a:ln/>
        </p:spPr>
        <p:txBody>
          <a:bodyPr wrap="square" lIns="0" tIns="0" rIns="0" bIns="0" rtlCol="0" anchor="t"/>
          <a:lstStyle/>
          <a:p>
            <a:pPr indent="0" marL="0">
              <a:buNone/>
            </a:pPr>
            <a:r>
              <a:rPr lang="en-US" sz="1400" dirty="0">
                <a:solidFill>
                  <a:schemeClr val="tx2"/>
                </a:solidFill>
              </a:rPr>
              <a:t>Life Sciences and Medical make up 64% of exits</a:t>
            </a:r>
            <a:endParaRPr lang="en-US" sz="1400" dirty="0"/>
          </a:p>
        </p:txBody>
      </p:sp>
      <p:sp>
        <p:nvSpPr>
          <p:cNvPr id="6" name="Attrition by job role"/>
          <p:cNvSpPr txBox="1"/>
          <p:nvPr/>
        </p:nvSpPr>
        <p:spPr>
          <a:xfrm>
            <a:off x="4754880" y="1188720"/>
            <a:ext cx="3931920" cy="320040"/>
          </a:xfrm>
          <a:prstGeom prst="rect">
            <a:avLst/>
          </a:prstGeom>
          <a:noFill/>
          <a:ln/>
        </p:spPr>
        <p:txBody>
          <a:bodyPr wrap="square" lIns="0" tIns="0" rIns="0" bIns="0" rtlCol="0" anchor="ctr"/>
          <a:lstStyle/>
          <a:p>
            <a:pPr indent="0" marL="0">
              <a:buNone/>
            </a:pPr>
            <a:r>
              <a:rPr lang="en-US" sz="1600" b="1" dirty="0">
                <a:solidFill>
                  <a:schemeClr val="tx1"/>
                </a:solidFill>
              </a:rPr>
              <a:t>Attrition by job role</a:t>
            </a:r>
            <a:endParaRPr lang="en-US" sz="1600" dirty="0"/>
          </a:p>
        </p:txBody>
      </p:sp>
      <p:graphicFrame>
        <p:nvGraphicFramePr>
          <p:cNvPr id="7" name="Chart: Attrition by job role" descr=""/>
          <p:cNvGraphicFramePr/>
          <p:nvPr/>
        </p:nvGraphicFramePr>
        <p:xfrm>
          <a:off x="4754880" y="1600200"/>
          <a:ext cx="3931920" cy="2377440"/>
        </p:xfrm>
        <a:graphic xmlns:a="http://schemas.openxmlformats.org/drawingml/2006/main">
          <a:graphicData uri="http://schemas.openxmlformats.org/drawingml/2006/chart">
            <c:chart xmlns:c="http://schemas.openxmlformats.org/drawingml/2006/chart" r:id="rId2"/>
          </a:graphicData>
        </a:graphic>
      </p:graphicFrame>
      <p:sp>
        <p:nvSpPr>
          <p:cNvPr id="8" name="Finding"/>
          <p:cNvSpPr txBox="1"/>
          <p:nvPr/>
        </p:nvSpPr>
        <p:spPr>
          <a:xfrm>
            <a:off x="4754880" y="4069080"/>
            <a:ext cx="3931920" cy="594360"/>
          </a:xfrm>
          <a:prstGeom prst="rect">
            <a:avLst/>
          </a:prstGeom>
          <a:noFill/>
          <a:ln/>
        </p:spPr>
        <p:txBody>
          <a:bodyPr wrap="square" lIns="0" tIns="0" rIns="0" bIns="0" rtlCol="0" anchor="t"/>
          <a:lstStyle/>
          <a:p>
            <a:pPr indent="0" marL="0">
              <a:buNone/>
            </a:pPr>
            <a:r>
              <a:rPr lang="en-US" sz="1400" dirty="0">
                <a:solidFill>
                  <a:schemeClr val="tx2"/>
                </a:solidFill>
              </a:rPr>
              <a:t>Three roles account for 167 of 238 exits (70%)</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200" b="1" dirty="0">
                <a:solidFill>
                  <a:schemeClr val="tx1"/>
                </a:solidFill>
              </a:rPr>
              <a:t>What drives it: pay and satisfaction</a:t>
            </a:r>
            <a:endParaRPr lang="en-US" sz="3200" dirty="0"/>
          </a:p>
        </p:txBody>
      </p:sp>
      <p:sp>
        <p:nvSpPr>
          <p:cNvPr id="3" name="Attrition by salary slab"/>
          <p:cNvSpPr txBox="1"/>
          <p:nvPr/>
        </p:nvSpPr>
        <p:spPr>
          <a:xfrm>
            <a:off x="457200" y="1188720"/>
            <a:ext cx="3931920" cy="320040"/>
          </a:xfrm>
          <a:prstGeom prst="rect">
            <a:avLst/>
          </a:prstGeom>
          <a:noFill/>
          <a:ln/>
        </p:spPr>
        <p:txBody>
          <a:bodyPr wrap="square" lIns="0" tIns="0" rIns="0" bIns="0" rtlCol="0" anchor="ctr"/>
          <a:lstStyle/>
          <a:p>
            <a:pPr indent="0" marL="0">
              <a:buNone/>
            </a:pPr>
            <a:r>
              <a:rPr lang="en-US" sz="1600" b="1" dirty="0">
                <a:solidFill>
                  <a:schemeClr val="tx1"/>
                </a:solidFill>
              </a:rPr>
              <a:t>Attrition by salary slab</a:t>
            </a:r>
            <a:endParaRPr lang="en-US" sz="1600" dirty="0"/>
          </a:p>
        </p:txBody>
      </p:sp>
      <p:graphicFrame>
        <p:nvGraphicFramePr>
          <p:cNvPr id="4" name="Chart: Attrition by salary slab" descr=""/>
          <p:cNvGraphicFramePr/>
          <p:nvPr/>
        </p:nvGraphicFramePr>
        <p:xfrm>
          <a:off x="457200" y="1600200"/>
          <a:ext cx="3931920" cy="2377440"/>
        </p:xfrm>
        <a:graphic xmlns:a="http://schemas.openxmlformats.org/drawingml/2006/main">
          <a:graphicData uri="http://schemas.openxmlformats.org/drawingml/2006/chart">
            <c:chart xmlns:c="http://schemas.openxmlformats.org/drawingml/2006/chart" r:id="rId1"/>
          </a:graphicData>
        </a:graphic>
      </p:graphicFrame>
      <p:sp>
        <p:nvSpPr>
          <p:cNvPr id="5" name="Finding"/>
          <p:cNvSpPr txBox="1"/>
          <p:nvPr/>
        </p:nvSpPr>
        <p:spPr>
          <a:xfrm>
            <a:off x="457200" y="4069080"/>
            <a:ext cx="3931920" cy="594360"/>
          </a:xfrm>
          <a:prstGeom prst="rect">
            <a:avLst/>
          </a:prstGeom>
          <a:noFill/>
          <a:ln/>
        </p:spPr>
        <p:txBody>
          <a:bodyPr wrap="square" lIns="0" tIns="0" rIns="0" bIns="0" rtlCol="0" anchor="t"/>
          <a:lstStyle/>
          <a:p>
            <a:pPr indent="0" marL="0">
              <a:buNone/>
            </a:pPr>
            <a:r>
              <a:rPr lang="en-US" sz="1400" dirty="0">
                <a:solidFill>
                  <a:schemeClr val="tx2"/>
                </a:solidFill>
              </a:rPr>
              <a:t>163 of 238 exits (68%) earned up to 5K a month</a:t>
            </a:r>
            <a:endParaRPr lang="en-US" sz="1400" dirty="0"/>
          </a:p>
        </p:txBody>
      </p:sp>
      <p:sp>
        <p:nvSpPr>
          <p:cNvPr id="6" name="Attrition by job satisfaction"/>
          <p:cNvSpPr txBox="1"/>
          <p:nvPr/>
        </p:nvSpPr>
        <p:spPr>
          <a:xfrm>
            <a:off x="4754880" y="1188720"/>
            <a:ext cx="3931920" cy="320040"/>
          </a:xfrm>
          <a:prstGeom prst="rect">
            <a:avLst/>
          </a:prstGeom>
          <a:noFill/>
          <a:ln/>
        </p:spPr>
        <p:txBody>
          <a:bodyPr wrap="square" lIns="0" tIns="0" rIns="0" bIns="0" rtlCol="0" anchor="ctr"/>
          <a:lstStyle/>
          <a:p>
            <a:pPr indent="0" marL="0">
              <a:buNone/>
            </a:pPr>
            <a:r>
              <a:rPr lang="en-US" sz="1600" b="1" dirty="0">
                <a:solidFill>
                  <a:schemeClr val="tx1"/>
                </a:solidFill>
              </a:rPr>
              <a:t>Attrition by job satisfaction</a:t>
            </a:r>
            <a:endParaRPr lang="en-US" sz="1600" dirty="0"/>
          </a:p>
        </p:txBody>
      </p:sp>
      <p:graphicFrame>
        <p:nvGraphicFramePr>
          <p:cNvPr id="7" name="Chart: Attrition by job satisfaction" descr=""/>
          <p:cNvGraphicFramePr/>
          <p:nvPr/>
        </p:nvGraphicFramePr>
        <p:xfrm>
          <a:off x="4754880" y="1600200"/>
          <a:ext cx="3931920" cy="2377440"/>
        </p:xfrm>
        <a:graphic xmlns:a="http://schemas.openxmlformats.org/drawingml/2006/main">
          <a:graphicData uri="http://schemas.openxmlformats.org/drawingml/2006/chart">
            <c:chart xmlns:c="http://schemas.openxmlformats.org/drawingml/2006/chart" r:id="rId2"/>
          </a:graphicData>
        </a:graphic>
      </p:graphicFrame>
      <p:sp>
        <p:nvSpPr>
          <p:cNvPr id="8" name="Finding"/>
          <p:cNvSpPr txBox="1"/>
          <p:nvPr/>
        </p:nvSpPr>
        <p:spPr>
          <a:xfrm>
            <a:off x="4754880" y="4069080"/>
            <a:ext cx="3931920" cy="594360"/>
          </a:xfrm>
          <a:prstGeom prst="rect">
            <a:avLst/>
          </a:prstGeom>
          <a:noFill/>
          <a:ln/>
        </p:spPr>
        <p:txBody>
          <a:bodyPr wrap="square" lIns="0" tIns="0" rIns="0" bIns="0" rtlCol="0" anchor="t"/>
          <a:lstStyle/>
          <a:p>
            <a:pPr indent="0" marL="0">
              <a:buNone/>
            </a:pPr>
            <a:r>
              <a:rPr lang="en-US" sz="1400" dirty="0">
                <a:solidFill>
                  <a:schemeClr val="tx2"/>
                </a:solidFill>
              </a:rPr>
              <a:t>Satisfaction levels 1 and 2 hold 113 exits (47%)</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200" b="1" dirty="0">
                <a:solidFill>
                  <a:schemeClr val="tx1"/>
                </a:solidFill>
              </a:rPr>
              <a:t>Key insights</a:t>
            </a:r>
            <a:endParaRPr lang="en-US" sz="3200" dirty="0"/>
          </a:p>
        </p:txBody>
      </p:sp>
      <p:sp>
        <p:nvSpPr>
          <p:cNvPr id="3" name="Insight card 1"/>
          <p:cNvSpPr/>
          <p:nvPr/>
        </p:nvSpPr>
        <p:spPr>
          <a:xfrm>
            <a:off x="457200" y="1280160"/>
            <a:ext cx="4023360" cy="1463040"/>
          </a:xfrm>
          <a:prstGeom prst="roundRect">
            <a:avLst>
              <a:gd name="adj" fmla="val 6250"/>
            </a:avLst>
          </a:prstGeom>
          <a:solidFill>
            <a:schemeClr val="bg2"/>
          </a:solidFill>
          <a:ln w="12700">
            <a:solidFill>
              <a:schemeClr val="bg2"/>
            </a:solidFill>
            <a:prstDash val="solid"/>
          </a:ln>
        </p:spPr>
      </p:sp>
      <p:sp>
        <p:nvSpPr>
          <p:cNvPr id="4" name="Age profile circle"/>
          <p:cNvSpPr/>
          <p:nvPr/>
        </p:nvSpPr>
        <p:spPr>
          <a:xfrm>
            <a:off x="685800" y="1508760"/>
            <a:ext cx="640080" cy="640080"/>
          </a:xfrm>
          <a:prstGeom prst="ellipse">
            <a:avLst/>
          </a:prstGeom>
          <a:solidFill>
            <a:schemeClr val="accent2"/>
          </a:solidFill>
          <a:ln w="12700">
            <a:solidFill>
              <a:schemeClr val="accent2"/>
            </a:solidFill>
            <a:prstDash val="solid"/>
          </a:ln>
        </p:spPr>
      </p:sp>
      <p:pic>
        <p:nvPicPr>
          <p:cNvPr id="5" name="Age profile" descr="Age profile">    </p:cNvPr>
          <p:cNvPicPr>
            <a:picLocks noChangeAspect="1"/>
          </p:cNvPicPr>
          <p:nvPr/>
        </p:nvPicPr>
        <p:blipFill>
          <a:blip r:embed="rId1"/>
          <a:stretch>
            <a:fillRect/>
          </a:stretch>
        </p:blipFill>
        <p:spPr>
          <a:xfrm>
            <a:off x="858622" y="1681582"/>
            <a:ext cx="294437" cy="294437"/>
          </a:xfrm>
          <a:prstGeom prst="rect">
            <a:avLst/>
          </a:prstGeom>
        </p:spPr>
      </p:pic>
      <p:sp>
        <p:nvSpPr>
          <p:cNvPr id="6" name="Insight text 1"/>
          <p:cNvSpPr txBox="1"/>
          <p:nvPr/>
        </p:nvSpPr>
        <p:spPr>
          <a:xfrm>
            <a:off x="1554480" y="1417320"/>
            <a:ext cx="2788920" cy="1188720"/>
          </a:xfrm>
          <a:prstGeom prst="rect">
            <a:avLst/>
          </a:prstGeom>
          <a:noFill/>
          <a:ln/>
        </p:spPr>
        <p:txBody>
          <a:bodyPr wrap="square" lIns="0" tIns="0" rIns="0" bIns="0" rtlCol="0" anchor="ctr"/>
          <a:lstStyle/>
          <a:p>
            <a:pPr indent="0" marL="0">
              <a:buNone/>
            </a:pPr>
            <a:r>
              <a:rPr lang="en-US" sz="1800" b="1" dirty="0">
                <a:solidFill>
                  <a:schemeClr val="tx1"/>
                </a:solidFill>
              </a:rPr>
              <a:t>Age profile</a:t>
            </a:r>
            <a:endParaRPr lang="en-US" sz="1800" dirty="0"/>
          </a:p>
          <a:p>
            <a:pPr indent="0" marL="0">
              <a:buNone/>
            </a:pPr>
            <a:r>
              <a:rPr lang="en-US" sz="1400" dirty="0">
                <a:solidFill>
                  <a:schemeClr val="tx1"/>
                </a:solidFill>
              </a:rPr>
              <a:t>Ages 26-35 account for 116 of 238 exits (49%)</a:t>
            </a:r>
            <a:endParaRPr lang="en-US" sz="1800" dirty="0"/>
          </a:p>
        </p:txBody>
      </p:sp>
      <p:sp>
        <p:nvSpPr>
          <p:cNvPr id="7" name="Insight card 2"/>
          <p:cNvSpPr/>
          <p:nvPr/>
        </p:nvSpPr>
        <p:spPr>
          <a:xfrm>
            <a:off x="4663440" y="1280160"/>
            <a:ext cx="4023360" cy="1463040"/>
          </a:xfrm>
          <a:prstGeom prst="roundRect">
            <a:avLst>
              <a:gd name="adj" fmla="val 6250"/>
            </a:avLst>
          </a:prstGeom>
          <a:solidFill>
            <a:schemeClr val="bg2"/>
          </a:solidFill>
          <a:ln w="12700">
            <a:solidFill>
              <a:schemeClr val="bg2"/>
            </a:solidFill>
            <a:prstDash val="solid"/>
          </a:ln>
        </p:spPr>
      </p:sp>
      <p:sp>
        <p:nvSpPr>
          <p:cNvPr id="8" name="Pay circle"/>
          <p:cNvSpPr/>
          <p:nvPr/>
        </p:nvSpPr>
        <p:spPr>
          <a:xfrm>
            <a:off x="4892040" y="1508760"/>
            <a:ext cx="640080" cy="640080"/>
          </a:xfrm>
          <a:prstGeom prst="ellipse">
            <a:avLst/>
          </a:prstGeom>
          <a:solidFill>
            <a:schemeClr val="accent1"/>
          </a:solidFill>
          <a:ln w="12700">
            <a:solidFill>
              <a:schemeClr val="accent1"/>
            </a:solidFill>
            <a:prstDash val="solid"/>
          </a:ln>
        </p:spPr>
      </p:sp>
      <p:pic>
        <p:nvPicPr>
          <p:cNvPr id="9" name="Pay" descr="Pay">    </p:cNvPr>
          <p:cNvPicPr>
            <a:picLocks noChangeAspect="1"/>
          </p:cNvPicPr>
          <p:nvPr/>
        </p:nvPicPr>
        <p:blipFill>
          <a:blip r:embed="rId2"/>
          <a:stretch>
            <a:fillRect/>
          </a:stretch>
        </p:blipFill>
        <p:spPr>
          <a:xfrm>
            <a:off x="5064862" y="1681582"/>
            <a:ext cx="294437" cy="294437"/>
          </a:xfrm>
          <a:prstGeom prst="rect">
            <a:avLst/>
          </a:prstGeom>
        </p:spPr>
      </p:pic>
      <p:sp>
        <p:nvSpPr>
          <p:cNvPr id="10" name="Insight text 2"/>
          <p:cNvSpPr txBox="1"/>
          <p:nvPr/>
        </p:nvSpPr>
        <p:spPr>
          <a:xfrm>
            <a:off x="5760720" y="1417320"/>
            <a:ext cx="2788920" cy="1188720"/>
          </a:xfrm>
          <a:prstGeom prst="rect">
            <a:avLst/>
          </a:prstGeom>
          <a:noFill/>
          <a:ln/>
        </p:spPr>
        <p:txBody>
          <a:bodyPr wrap="square" lIns="0" tIns="0" rIns="0" bIns="0" rtlCol="0" anchor="ctr"/>
          <a:lstStyle/>
          <a:p>
            <a:pPr indent="0" marL="0">
              <a:buNone/>
            </a:pPr>
            <a:r>
              <a:rPr lang="en-US" sz="1800" b="1" dirty="0">
                <a:solidFill>
                  <a:schemeClr val="tx1"/>
                </a:solidFill>
              </a:rPr>
              <a:t>Pay</a:t>
            </a:r>
            <a:endParaRPr lang="en-US" sz="1800" dirty="0"/>
          </a:p>
          <a:p>
            <a:pPr indent="0" marL="0">
              <a:buNone/>
            </a:pPr>
            <a:r>
              <a:rPr lang="en-US" sz="1400" dirty="0">
                <a:solidFill>
                  <a:schemeClr val="tx1"/>
                </a:solidFill>
              </a:rPr>
              <a:t>68% of exits earned up to 5K a month</a:t>
            </a:r>
            <a:endParaRPr lang="en-US" sz="1800" dirty="0"/>
          </a:p>
        </p:txBody>
      </p:sp>
      <p:sp>
        <p:nvSpPr>
          <p:cNvPr id="11" name="Insight card 3"/>
          <p:cNvSpPr/>
          <p:nvPr/>
        </p:nvSpPr>
        <p:spPr>
          <a:xfrm>
            <a:off x="457200" y="2926080"/>
            <a:ext cx="4023360" cy="1463040"/>
          </a:xfrm>
          <a:prstGeom prst="roundRect">
            <a:avLst>
              <a:gd name="adj" fmla="val 6250"/>
            </a:avLst>
          </a:prstGeom>
          <a:solidFill>
            <a:schemeClr val="bg2"/>
          </a:solidFill>
          <a:ln w="12700">
            <a:solidFill>
              <a:schemeClr val="bg2"/>
            </a:solidFill>
            <a:prstDash val="solid"/>
          </a:ln>
        </p:spPr>
      </p:sp>
      <p:sp>
        <p:nvSpPr>
          <p:cNvPr id="12" name="Roles circle"/>
          <p:cNvSpPr/>
          <p:nvPr/>
        </p:nvSpPr>
        <p:spPr>
          <a:xfrm>
            <a:off x="685800" y="3154680"/>
            <a:ext cx="640080" cy="640080"/>
          </a:xfrm>
          <a:prstGeom prst="ellipse">
            <a:avLst/>
          </a:prstGeom>
          <a:solidFill>
            <a:schemeClr val="accent4"/>
          </a:solidFill>
          <a:ln w="12700">
            <a:solidFill>
              <a:schemeClr val="accent4"/>
            </a:solidFill>
            <a:prstDash val="solid"/>
          </a:ln>
        </p:spPr>
      </p:sp>
      <p:pic>
        <p:nvPicPr>
          <p:cNvPr id="13" name="Roles" descr="Roles">    </p:cNvPr>
          <p:cNvPicPr>
            <a:picLocks noChangeAspect="1"/>
          </p:cNvPicPr>
          <p:nvPr/>
        </p:nvPicPr>
        <p:blipFill>
          <a:blip r:embed="rId3"/>
          <a:stretch>
            <a:fillRect/>
          </a:stretch>
        </p:blipFill>
        <p:spPr>
          <a:xfrm>
            <a:off x="858622" y="3327502"/>
            <a:ext cx="294437" cy="294437"/>
          </a:xfrm>
          <a:prstGeom prst="rect">
            <a:avLst/>
          </a:prstGeom>
        </p:spPr>
      </p:pic>
      <p:sp>
        <p:nvSpPr>
          <p:cNvPr id="14" name="Insight text 3"/>
          <p:cNvSpPr txBox="1"/>
          <p:nvPr/>
        </p:nvSpPr>
        <p:spPr>
          <a:xfrm>
            <a:off x="1554480" y="3063240"/>
            <a:ext cx="2788920" cy="1188720"/>
          </a:xfrm>
          <a:prstGeom prst="rect">
            <a:avLst/>
          </a:prstGeom>
          <a:noFill/>
          <a:ln/>
        </p:spPr>
        <p:txBody>
          <a:bodyPr wrap="square" lIns="0" tIns="0" rIns="0" bIns="0" rtlCol="0" anchor="ctr"/>
          <a:lstStyle/>
          <a:p>
            <a:pPr indent="0" marL="0">
              <a:buNone/>
            </a:pPr>
            <a:r>
              <a:rPr lang="en-US" sz="1800" b="1" dirty="0">
                <a:solidFill>
                  <a:schemeClr val="tx1"/>
                </a:solidFill>
              </a:rPr>
              <a:t>Roles</a:t>
            </a:r>
            <a:endParaRPr lang="en-US" sz="1800" dirty="0"/>
          </a:p>
          <a:p>
            <a:pPr indent="0" marL="0">
              <a:buNone/>
            </a:pPr>
            <a:r>
              <a:rPr lang="en-US" sz="1400" dirty="0">
                <a:solidFill>
                  <a:schemeClr val="tx1"/>
                </a:solidFill>
              </a:rPr>
              <a:t>Laboratory Technician, Sales Executive and Research Scientist make up 70% of exits</a:t>
            </a:r>
            <a:endParaRPr lang="en-US" sz="1800" dirty="0"/>
          </a:p>
        </p:txBody>
      </p:sp>
      <p:sp>
        <p:nvSpPr>
          <p:cNvPr id="15" name="Insight card 4"/>
          <p:cNvSpPr/>
          <p:nvPr/>
        </p:nvSpPr>
        <p:spPr>
          <a:xfrm>
            <a:off x="4663440" y="2926080"/>
            <a:ext cx="4023360" cy="1463040"/>
          </a:xfrm>
          <a:prstGeom prst="roundRect">
            <a:avLst>
              <a:gd name="adj" fmla="val 6250"/>
            </a:avLst>
          </a:prstGeom>
          <a:solidFill>
            <a:schemeClr val="bg2"/>
          </a:solidFill>
          <a:ln w="12700">
            <a:solidFill>
              <a:schemeClr val="bg2"/>
            </a:solidFill>
            <a:prstDash val="solid"/>
          </a:ln>
        </p:spPr>
      </p:sp>
      <p:sp>
        <p:nvSpPr>
          <p:cNvPr id="16" name="Satisfaction circle"/>
          <p:cNvSpPr/>
          <p:nvPr/>
        </p:nvSpPr>
        <p:spPr>
          <a:xfrm>
            <a:off x="4892040" y="3154680"/>
            <a:ext cx="640080" cy="640080"/>
          </a:xfrm>
          <a:prstGeom prst="ellipse">
            <a:avLst/>
          </a:prstGeom>
          <a:solidFill>
            <a:schemeClr val="accent2"/>
          </a:solidFill>
          <a:ln w="12700">
            <a:solidFill>
              <a:schemeClr val="accent2"/>
            </a:solidFill>
            <a:prstDash val="solid"/>
          </a:ln>
        </p:spPr>
      </p:sp>
      <p:pic>
        <p:nvPicPr>
          <p:cNvPr id="17" name="Satisfaction" descr="Satisfaction">    </p:cNvPr>
          <p:cNvPicPr>
            <a:picLocks noChangeAspect="1"/>
          </p:cNvPicPr>
          <p:nvPr/>
        </p:nvPicPr>
        <p:blipFill>
          <a:blip r:embed="rId4"/>
          <a:stretch>
            <a:fillRect/>
          </a:stretch>
        </p:blipFill>
        <p:spPr>
          <a:xfrm>
            <a:off x="5064862" y="3327502"/>
            <a:ext cx="294437" cy="294437"/>
          </a:xfrm>
          <a:prstGeom prst="rect">
            <a:avLst/>
          </a:prstGeom>
        </p:spPr>
      </p:pic>
      <p:sp>
        <p:nvSpPr>
          <p:cNvPr id="18" name="Insight text 4"/>
          <p:cNvSpPr txBox="1"/>
          <p:nvPr/>
        </p:nvSpPr>
        <p:spPr>
          <a:xfrm>
            <a:off x="5760720" y="3063240"/>
            <a:ext cx="2788920" cy="1188720"/>
          </a:xfrm>
          <a:prstGeom prst="rect">
            <a:avLst/>
          </a:prstGeom>
          <a:noFill/>
          <a:ln/>
        </p:spPr>
        <p:txBody>
          <a:bodyPr wrap="square" lIns="0" tIns="0" rIns="0" bIns="0" rtlCol="0" anchor="ctr"/>
          <a:lstStyle/>
          <a:p>
            <a:pPr indent="0" marL="0">
              <a:buNone/>
            </a:pPr>
            <a:r>
              <a:rPr lang="en-US" sz="1800" b="1" dirty="0">
                <a:solidFill>
                  <a:schemeClr val="tx1"/>
                </a:solidFill>
              </a:rPr>
              <a:t>Satisfaction</a:t>
            </a:r>
            <a:endParaRPr lang="en-US" sz="1800" dirty="0"/>
          </a:p>
          <a:p>
            <a:pPr indent="0" marL="0">
              <a:buNone/>
            </a:pPr>
            <a:r>
              <a:rPr lang="en-US" sz="1400" dirty="0">
                <a:solidFill>
                  <a:schemeClr val="tx1"/>
                </a:solidFill>
              </a:rPr>
              <a:t>47% of exits rated satisfaction 1 or 2</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200" b="1" dirty="0">
                <a:solidFill>
                  <a:schemeClr val="tx1"/>
                </a:solidFill>
              </a:rPr>
              <a:t>Suggested retention actions</a:t>
            </a:r>
            <a:endParaRPr lang="en-US" sz="3200" dirty="0"/>
          </a:p>
        </p:txBody>
      </p:sp>
      <p:sp>
        <p:nvSpPr>
          <p:cNvPr id="3" name="Action card 1"/>
          <p:cNvSpPr/>
          <p:nvPr/>
        </p:nvSpPr>
        <p:spPr>
          <a:xfrm>
            <a:off x="457200" y="1280160"/>
            <a:ext cx="2606040" cy="3108960"/>
          </a:xfrm>
          <a:prstGeom prst="roundRect">
            <a:avLst>
              <a:gd name="adj" fmla="val 3509"/>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4" name="Review pay circle"/>
          <p:cNvSpPr/>
          <p:nvPr/>
        </p:nvSpPr>
        <p:spPr>
          <a:xfrm>
            <a:off x="685800" y="1508760"/>
            <a:ext cx="685800" cy="685800"/>
          </a:xfrm>
          <a:prstGeom prst="ellipse">
            <a:avLst/>
          </a:prstGeom>
          <a:solidFill>
            <a:schemeClr val="accent1"/>
          </a:solidFill>
          <a:ln w="12700">
            <a:solidFill>
              <a:schemeClr val="accent1"/>
            </a:solidFill>
            <a:prstDash val="solid"/>
          </a:ln>
        </p:spPr>
      </p:sp>
      <p:pic>
        <p:nvPicPr>
          <p:cNvPr id="5" name="Review pay" descr="Review pay">    </p:cNvPr>
          <p:cNvPicPr>
            <a:picLocks noChangeAspect="1"/>
          </p:cNvPicPr>
          <p:nvPr/>
        </p:nvPicPr>
        <p:blipFill>
          <a:blip r:embed="rId1"/>
          <a:stretch>
            <a:fillRect/>
          </a:stretch>
        </p:blipFill>
        <p:spPr>
          <a:xfrm>
            <a:off x="870966" y="1693926"/>
            <a:ext cx="315468" cy="315468"/>
          </a:xfrm>
          <a:prstGeom prst="rect">
            <a:avLst/>
          </a:prstGeom>
        </p:spPr>
      </p:pic>
      <p:sp>
        <p:nvSpPr>
          <p:cNvPr id="6" name="Action title 1"/>
          <p:cNvSpPr txBox="1"/>
          <p:nvPr/>
        </p:nvSpPr>
        <p:spPr>
          <a:xfrm>
            <a:off x="685800" y="2331720"/>
            <a:ext cx="2194560" cy="457200"/>
          </a:xfrm>
          <a:prstGeom prst="rect">
            <a:avLst/>
          </a:prstGeom>
          <a:noFill/>
          <a:ln/>
        </p:spPr>
        <p:txBody>
          <a:bodyPr wrap="square" lIns="0" tIns="0" rIns="0" bIns="0" rtlCol="0" anchor="ctr"/>
          <a:lstStyle/>
          <a:p>
            <a:pPr indent="0" marL="0">
              <a:buNone/>
            </a:pPr>
            <a:r>
              <a:rPr lang="en-US" sz="1800" b="1" dirty="0">
                <a:solidFill>
                  <a:schemeClr val="tx1"/>
                </a:solidFill>
              </a:rPr>
              <a:t>Review pay</a:t>
            </a:r>
            <a:endParaRPr lang="en-US" sz="1800" dirty="0"/>
          </a:p>
        </p:txBody>
      </p:sp>
      <p:sp>
        <p:nvSpPr>
          <p:cNvPr id="7" name="Action text 1"/>
          <p:cNvSpPr txBox="1"/>
          <p:nvPr/>
        </p:nvSpPr>
        <p:spPr>
          <a:xfrm>
            <a:off x="685800" y="2834640"/>
            <a:ext cx="2194560" cy="1371600"/>
          </a:xfrm>
          <a:prstGeom prst="rect">
            <a:avLst/>
          </a:prstGeom>
          <a:noFill/>
          <a:ln/>
        </p:spPr>
        <p:txBody>
          <a:bodyPr wrap="square" lIns="0" tIns="0" rIns="0" bIns="0" rtlCol="0" anchor="t"/>
          <a:lstStyle/>
          <a:p>
            <a:pPr indent="0" marL="0">
              <a:buNone/>
            </a:pPr>
            <a:r>
              <a:rPr lang="en-US" sz="1400" dirty="0">
                <a:solidFill>
                  <a:schemeClr val="tx2"/>
                </a:solidFill>
              </a:rPr>
              <a:t>Most exits earn up to 5K a month, so benchmark pay in that slab.</a:t>
            </a:r>
            <a:endParaRPr lang="en-US" sz="1400" dirty="0"/>
          </a:p>
        </p:txBody>
      </p:sp>
      <p:sp>
        <p:nvSpPr>
          <p:cNvPr id="8" name="Action card 2"/>
          <p:cNvSpPr/>
          <p:nvPr/>
        </p:nvSpPr>
        <p:spPr>
          <a:xfrm>
            <a:off x="3246120" y="1280160"/>
            <a:ext cx="2606040" cy="3108960"/>
          </a:xfrm>
          <a:prstGeom prst="roundRect">
            <a:avLst>
              <a:gd name="adj" fmla="val 3509"/>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9" name="Retain ages 26-35 circle"/>
          <p:cNvSpPr/>
          <p:nvPr/>
        </p:nvSpPr>
        <p:spPr>
          <a:xfrm>
            <a:off x="3474720" y="1508760"/>
            <a:ext cx="685800" cy="685800"/>
          </a:xfrm>
          <a:prstGeom prst="ellipse">
            <a:avLst/>
          </a:prstGeom>
          <a:solidFill>
            <a:schemeClr val="accent2"/>
          </a:solidFill>
          <a:ln w="12700">
            <a:solidFill>
              <a:schemeClr val="accent2"/>
            </a:solidFill>
            <a:prstDash val="solid"/>
          </a:ln>
        </p:spPr>
      </p:sp>
      <p:pic>
        <p:nvPicPr>
          <p:cNvPr id="10" name="Retain ages 26-35" descr="Retain ages 26-35">    </p:cNvPr>
          <p:cNvPicPr>
            <a:picLocks noChangeAspect="1"/>
          </p:cNvPicPr>
          <p:nvPr/>
        </p:nvPicPr>
        <p:blipFill>
          <a:blip r:embed="rId2"/>
          <a:stretch>
            <a:fillRect/>
          </a:stretch>
        </p:blipFill>
        <p:spPr>
          <a:xfrm>
            <a:off x="3659886" y="1693926"/>
            <a:ext cx="315468" cy="315468"/>
          </a:xfrm>
          <a:prstGeom prst="rect">
            <a:avLst/>
          </a:prstGeom>
        </p:spPr>
      </p:pic>
      <p:sp>
        <p:nvSpPr>
          <p:cNvPr id="11" name="Action title 2"/>
          <p:cNvSpPr txBox="1"/>
          <p:nvPr/>
        </p:nvSpPr>
        <p:spPr>
          <a:xfrm>
            <a:off x="3474720" y="2331720"/>
            <a:ext cx="2194560" cy="457200"/>
          </a:xfrm>
          <a:prstGeom prst="rect">
            <a:avLst/>
          </a:prstGeom>
          <a:noFill/>
          <a:ln/>
        </p:spPr>
        <p:txBody>
          <a:bodyPr wrap="square" lIns="0" tIns="0" rIns="0" bIns="0" rtlCol="0" anchor="ctr"/>
          <a:lstStyle/>
          <a:p>
            <a:pPr indent="0" marL="0">
              <a:buNone/>
            </a:pPr>
            <a:r>
              <a:rPr lang="en-US" sz="1800" b="1" dirty="0">
                <a:solidFill>
                  <a:schemeClr val="tx1"/>
                </a:solidFill>
              </a:rPr>
              <a:t>Retain ages 26-35</a:t>
            </a:r>
            <a:endParaRPr lang="en-US" sz="1800" dirty="0"/>
          </a:p>
        </p:txBody>
      </p:sp>
      <p:sp>
        <p:nvSpPr>
          <p:cNvPr id="12" name="Action text 2"/>
          <p:cNvSpPr txBox="1"/>
          <p:nvPr/>
        </p:nvSpPr>
        <p:spPr>
          <a:xfrm>
            <a:off x="3474720" y="2834640"/>
            <a:ext cx="2194560" cy="1371600"/>
          </a:xfrm>
          <a:prstGeom prst="rect">
            <a:avLst/>
          </a:prstGeom>
          <a:noFill/>
          <a:ln/>
        </p:spPr>
        <p:txBody>
          <a:bodyPr wrap="square" lIns="0" tIns="0" rIns="0" bIns="0" rtlCol="0" anchor="t"/>
          <a:lstStyle/>
          <a:p>
            <a:pPr indent="0" marL="0">
              <a:buNone/>
            </a:pPr>
            <a:r>
              <a:rPr lang="en-US" sz="1400" dirty="0">
                <a:solidFill>
                  <a:schemeClr val="tx2"/>
                </a:solidFill>
              </a:rPr>
              <a:t>Half of all exits are in this group. Add career paths and growth plans.</a:t>
            </a:r>
            <a:endParaRPr lang="en-US" sz="1400" dirty="0"/>
          </a:p>
        </p:txBody>
      </p:sp>
      <p:sp>
        <p:nvSpPr>
          <p:cNvPr id="13" name="Action card 3"/>
          <p:cNvSpPr/>
          <p:nvPr/>
        </p:nvSpPr>
        <p:spPr>
          <a:xfrm>
            <a:off x="6035040" y="1280160"/>
            <a:ext cx="2606040" cy="3108960"/>
          </a:xfrm>
          <a:prstGeom prst="roundRect">
            <a:avLst>
              <a:gd name="adj" fmla="val 3509"/>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4" name="Act on satisfaction circle"/>
          <p:cNvSpPr/>
          <p:nvPr/>
        </p:nvSpPr>
        <p:spPr>
          <a:xfrm>
            <a:off x="6263640" y="1508760"/>
            <a:ext cx="685800" cy="685800"/>
          </a:xfrm>
          <a:prstGeom prst="ellipse">
            <a:avLst/>
          </a:prstGeom>
          <a:solidFill>
            <a:schemeClr val="accent4"/>
          </a:solidFill>
          <a:ln w="12700">
            <a:solidFill>
              <a:schemeClr val="accent4"/>
            </a:solidFill>
            <a:prstDash val="solid"/>
          </a:ln>
        </p:spPr>
      </p:sp>
      <p:pic>
        <p:nvPicPr>
          <p:cNvPr id="15" name="Act on satisfaction" descr="Act on satisfaction">    </p:cNvPr>
          <p:cNvPicPr>
            <a:picLocks noChangeAspect="1"/>
          </p:cNvPicPr>
          <p:nvPr/>
        </p:nvPicPr>
        <p:blipFill>
          <a:blip r:embed="rId3"/>
          <a:stretch>
            <a:fillRect/>
          </a:stretch>
        </p:blipFill>
        <p:spPr>
          <a:xfrm>
            <a:off x="6448806" y="1693926"/>
            <a:ext cx="315468" cy="315468"/>
          </a:xfrm>
          <a:prstGeom prst="rect">
            <a:avLst/>
          </a:prstGeom>
        </p:spPr>
      </p:pic>
      <p:sp>
        <p:nvSpPr>
          <p:cNvPr id="16" name="Action title 3"/>
          <p:cNvSpPr txBox="1"/>
          <p:nvPr/>
        </p:nvSpPr>
        <p:spPr>
          <a:xfrm>
            <a:off x="6263640" y="2331720"/>
            <a:ext cx="2194560" cy="457200"/>
          </a:xfrm>
          <a:prstGeom prst="rect">
            <a:avLst/>
          </a:prstGeom>
          <a:noFill/>
          <a:ln/>
        </p:spPr>
        <p:txBody>
          <a:bodyPr wrap="square" lIns="0" tIns="0" rIns="0" bIns="0" rtlCol="0" anchor="ctr"/>
          <a:lstStyle/>
          <a:p>
            <a:pPr indent="0" marL="0">
              <a:buNone/>
            </a:pPr>
            <a:r>
              <a:rPr lang="en-US" sz="1800" b="1" dirty="0">
                <a:solidFill>
                  <a:schemeClr val="tx1"/>
                </a:solidFill>
              </a:rPr>
              <a:t>Act on satisfaction</a:t>
            </a:r>
            <a:endParaRPr lang="en-US" sz="1800" dirty="0"/>
          </a:p>
        </p:txBody>
      </p:sp>
      <p:sp>
        <p:nvSpPr>
          <p:cNvPr id="17" name="Action text 3"/>
          <p:cNvSpPr txBox="1"/>
          <p:nvPr/>
        </p:nvSpPr>
        <p:spPr>
          <a:xfrm>
            <a:off x="6263640" y="2834640"/>
            <a:ext cx="2194560" cy="1371600"/>
          </a:xfrm>
          <a:prstGeom prst="rect">
            <a:avLst/>
          </a:prstGeom>
          <a:noFill/>
          <a:ln/>
        </p:spPr>
        <p:txBody>
          <a:bodyPr wrap="square" lIns="0" tIns="0" rIns="0" bIns="0" rtlCol="0" anchor="t"/>
          <a:lstStyle/>
          <a:p>
            <a:pPr indent="0" marL="0">
              <a:buNone/>
            </a:pPr>
            <a:r>
              <a:rPr lang="en-US" sz="1400" dirty="0">
                <a:solidFill>
                  <a:schemeClr val="tx2"/>
                </a:solidFill>
              </a:rPr>
              <a:t>Run focused surveys and manager reviews in the three high-exit roles.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nchor="ctr"/>
          <a:lstStyle/>
          <a:p>
            <a:pPr algn="l" indent="0" marL="0">
              <a:buNone/>
            </a:pPr>
            <a:r>
              <a:rPr lang="en-US" sz="3200" b="1" dirty="0">
                <a:solidFill>
                  <a:schemeClr val="bg1"/>
                </a:solidFill>
              </a:rPr>
              <a:t>Conclusion</a:t>
            </a:r>
            <a:endParaRPr lang="en-US" sz="3200" dirty="0"/>
          </a:p>
        </p:txBody>
      </p:sp>
      <p:sp>
        <p:nvSpPr>
          <p:cNvPr id="3" name="Point 1 circle"/>
          <p:cNvSpPr/>
          <p:nvPr/>
        </p:nvSpPr>
        <p:spPr>
          <a:xfrm>
            <a:off x="548640" y="1371600"/>
            <a:ext cx="548640" cy="548640"/>
          </a:xfrm>
          <a:prstGeom prst="ellipse">
            <a:avLst/>
          </a:prstGeom>
          <a:solidFill>
            <a:schemeClr val="accent2"/>
          </a:solidFill>
          <a:ln w="12700">
            <a:solidFill>
              <a:schemeClr val="accent2"/>
            </a:solidFill>
            <a:prstDash val="solid"/>
          </a:ln>
        </p:spPr>
      </p:sp>
      <p:pic>
        <p:nvPicPr>
          <p:cNvPr id="4" name="Point 1" descr="Point 1">    </p:cNvPr>
          <p:cNvPicPr>
            <a:picLocks noChangeAspect="1"/>
          </p:cNvPicPr>
          <p:nvPr/>
        </p:nvPicPr>
        <p:blipFill>
          <a:blip r:embed="rId1"/>
          <a:stretch>
            <a:fillRect/>
          </a:stretch>
        </p:blipFill>
        <p:spPr>
          <a:xfrm>
            <a:off x="696773" y="1519733"/>
            <a:ext cx="252374" cy="252374"/>
          </a:xfrm>
          <a:prstGeom prst="rect">
            <a:avLst/>
          </a:prstGeom>
        </p:spPr>
      </p:pic>
      <p:sp>
        <p:nvSpPr>
          <p:cNvPr id="5" name="Conclusion point 1"/>
          <p:cNvSpPr txBox="1"/>
          <p:nvPr/>
        </p:nvSpPr>
        <p:spPr>
          <a:xfrm>
            <a:off x="1325880" y="1325880"/>
            <a:ext cx="7132320" cy="640080"/>
          </a:xfrm>
          <a:prstGeom prst="rect">
            <a:avLst/>
          </a:prstGeom>
          <a:noFill/>
          <a:ln/>
        </p:spPr>
        <p:txBody>
          <a:bodyPr wrap="square" lIns="0" tIns="0" rIns="0" bIns="0" rtlCol="0" anchor="ctr"/>
          <a:lstStyle/>
          <a:p>
            <a:pPr indent="0" marL="0">
              <a:buNone/>
            </a:pPr>
            <a:r>
              <a:rPr lang="en-US" sz="1800" dirty="0">
                <a:solidFill>
                  <a:schemeClr val="bg1"/>
                </a:solidFill>
              </a:rPr>
              <a:t>238 of 1,480 employees left, an attrition rate of 16.1%</a:t>
            </a:r>
            <a:endParaRPr lang="en-US" sz="1800" dirty="0"/>
          </a:p>
        </p:txBody>
      </p:sp>
      <p:sp>
        <p:nvSpPr>
          <p:cNvPr id="6" name="Point 2 circle"/>
          <p:cNvSpPr/>
          <p:nvPr/>
        </p:nvSpPr>
        <p:spPr>
          <a:xfrm>
            <a:off x="548640" y="2377440"/>
            <a:ext cx="548640" cy="548640"/>
          </a:xfrm>
          <a:prstGeom prst="ellipse">
            <a:avLst/>
          </a:prstGeom>
          <a:solidFill>
            <a:schemeClr val="accent2"/>
          </a:solidFill>
          <a:ln w="12700">
            <a:solidFill>
              <a:schemeClr val="accent2"/>
            </a:solidFill>
            <a:prstDash val="solid"/>
          </a:ln>
        </p:spPr>
      </p:sp>
      <p:pic>
        <p:nvPicPr>
          <p:cNvPr id="7" name="Point 2" descr="Point 2">    </p:cNvPr>
          <p:cNvPicPr>
            <a:picLocks noChangeAspect="1"/>
          </p:cNvPicPr>
          <p:nvPr/>
        </p:nvPicPr>
        <p:blipFill>
          <a:blip r:embed="rId2"/>
          <a:stretch>
            <a:fillRect/>
          </a:stretch>
        </p:blipFill>
        <p:spPr>
          <a:xfrm>
            <a:off x="696773" y="2525573"/>
            <a:ext cx="252374" cy="252374"/>
          </a:xfrm>
          <a:prstGeom prst="rect">
            <a:avLst/>
          </a:prstGeom>
        </p:spPr>
      </p:pic>
      <p:sp>
        <p:nvSpPr>
          <p:cNvPr id="8" name="Conclusion point 2"/>
          <p:cNvSpPr txBox="1"/>
          <p:nvPr/>
        </p:nvSpPr>
        <p:spPr>
          <a:xfrm>
            <a:off x="1325880" y="2331720"/>
            <a:ext cx="7132320" cy="640080"/>
          </a:xfrm>
          <a:prstGeom prst="rect">
            <a:avLst/>
          </a:prstGeom>
          <a:noFill/>
          <a:ln/>
        </p:spPr>
        <p:txBody>
          <a:bodyPr wrap="square" lIns="0" tIns="0" rIns="0" bIns="0" rtlCol="0" anchor="ctr"/>
          <a:lstStyle/>
          <a:p>
            <a:pPr indent="0" marL="0">
              <a:buNone/>
            </a:pPr>
            <a:r>
              <a:rPr lang="en-US" sz="1800" dirty="0">
                <a:solidFill>
                  <a:schemeClr val="bg1"/>
                </a:solidFill>
              </a:rPr>
              <a:t>Exits cluster in ages 26-35, pay up to 5K and three job roles</a:t>
            </a:r>
            <a:endParaRPr lang="en-US" sz="1800" dirty="0"/>
          </a:p>
        </p:txBody>
      </p:sp>
      <p:sp>
        <p:nvSpPr>
          <p:cNvPr id="9" name="Point 3 circle"/>
          <p:cNvSpPr/>
          <p:nvPr/>
        </p:nvSpPr>
        <p:spPr>
          <a:xfrm>
            <a:off x="548640" y="3383280"/>
            <a:ext cx="548640" cy="548640"/>
          </a:xfrm>
          <a:prstGeom prst="ellipse">
            <a:avLst/>
          </a:prstGeom>
          <a:solidFill>
            <a:schemeClr val="accent2"/>
          </a:solidFill>
          <a:ln w="12700">
            <a:solidFill>
              <a:schemeClr val="accent2"/>
            </a:solidFill>
            <a:prstDash val="solid"/>
          </a:ln>
        </p:spPr>
      </p:sp>
      <p:pic>
        <p:nvPicPr>
          <p:cNvPr id="10" name="Point 3" descr="Point 3">    </p:cNvPr>
          <p:cNvPicPr>
            <a:picLocks noChangeAspect="1"/>
          </p:cNvPicPr>
          <p:nvPr/>
        </p:nvPicPr>
        <p:blipFill>
          <a:blip r:embed="rId3"/>
          <a:stretch>
            <a:fillRect/>
          </a:stretch>
        </p:blipFill>
        <p:spPr>
          <a:xfrm>
            <a:off x="696773" y="3531413"/>
            <a:ext cx="252374" cy="252374"/>
          </a:xfrm>
          <a:prstGeom prst="rect">
            <a:avLst/>
          </a:prstGeom>
        </p:spPr>
      </p:pic>
      <p:sp>
        <p:nvSpPr>
          <p:cNvPr id="11" name="Conclusion point 3"/>
          <p:cNvSpPr txBox="1"/>
          <p:nvPr/>
        </p:nvSpPr>
        <p:spPr>
          <a:xfrm>
            <a:off x="1325880" y="3337560"/>
            <a:ext cx="7132320" cy="640080"/>
          </a:xfrm>
          <a:prstGeom prst="rect">
            <a:avLst/>
          </a:prstGeom>
          <a:noFill/>
          <a:ln/>
        </p:spPr>
        <p:txBody>
          <a:bodyPr wrap="square" lIns="0" tIns="0" rIns="0" bIns="0" rtlCol="0" anchor="ctr"/>
          <a:lstStyle/>
          <a:p>
            <a:pPr indent="0" marL="0">
              <a:buNone/>
            </a:pPr>
            <a:r>
              <a:rPr lang="en-US" sz="1800" dirty="0">
                <a:solidFill>
                  <a:schemeClr val="bg1"/>
                </a:solidFill>
              </a:rPr>
              <a:t>Next step: act on pay and satisfaction, then track the rate over time</a:t>
            </a:r>
            <a:endParaRPr lang="en-US" sz="1800" dirty="0"/>
          </a:p>
        </p:txBody>
      </p:sp>
      <p:sp>
        <p:nvSpPr>
          <p:cNvPr id="12" name="Thank you"/>
          <p:cNvSpPr txBox="1"/>
          <p:nvPr/>
        </p:nvSpPr>
        <p:spPr>
          <a:xfrm>
            <a:off x="548640" y="4297680"/>
            <a:ext cx="4572000" cy="457200"/>
          </a:xfrm>
          <a:prstGeom prst="rect">
            <a:avLst/>
          </a:prstGeom>
          <a:noFill/>
          <a:ln/>
        </p:spPr>
        <p:txBody>
          <a:bodyPr wrap="square" lIns="0" tIns="0" rIns="0" bIns="0" rtlCol="0" anchor="ctr"/>
          <a:lstStyle/>
          <a:p>
            <a:pPr indent="0" marL="0">
              <a:buNone/>
            </a:pPr>
            <a:r>
              <a:rPr lang="en-US" sz="2000" b="1" dirty="0">
                <a:solidFill>
                  <a:schemeClr val="accent3"/>
                </a:solidFill>
              </a:rPr>
              <a:t>Thank you</a:t>
            </a:r>
            <a:endParaRPr lang="en-US" sz="2000" dirty="0"/>
          </a:p>
        </p:txBody>
      </p:sp>
    </p:spTree>
  </p:cSld>
  <p:clrMapOvr>
    <a:masterClrMapping/>
  </p:clrMapOvr>
</p:sld>
</file>

<file path=ppt/theme/theme1.xml><?xml version="1.0" encoding="utf-8"?>
<a:theme xmlns:a="http://schemas.openxmlformats.org/drawingml/2006/main" name="HR Analytics">
  <a:themeElements>
    <a:clrScheme name="HR Analytics">
      <a:dk1>
        <a:srgbClr val="1B2540"/>
      </a:dk1>
      <a:lt1>
        <a:srgbClr val="FFFFFF"/>
      </a:lt1>
      <a:dk2>
        <a:srgbClr val="2E3A5C"/>
      </a:dk2>
      <a:lt2>
        <a:srgbClr val="EEF1F7"/>
      </a:lt2>
      <a:accent1>
        <a:srgbClr val="F26B5B"/>
      </a:accent1>
      <a:accent2>
        <a:srgbClr val="1FA89A"/>
      </a:accent2>
      <a:accent3>
        <a:srgbClr val="F2B84B"/>
      </a:accent3>
      <a:accent4>
        <a:srgbClr val="5B6C9A"/>
      </a:accent4>
      <a:accent5>
        <a:srgbClr val="8FA3C8"/>
      </a:accent5>
      <a:accent6>
        <a:srgbClr val="C9D2E6"/>
      </a:accent6>
      <a:hlink>
        <a:srgbClr val="1FA89A"/>
      </a:hlink>
      <a:folHlink>
        <a:srgbClr val="5B6C9A"/>
      </a:folHlink>
    </a:clrScheme>
    <a:fontScheme name="HR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Analytics Dashboard - Employee Attrition Analysis</dc:title>
  <dc:subject>PptxGenJS Presentation</dc:subject>
  <dc:creator>PptxGenJS</dc:creator>
  <cp:lastModifiedBy>PptxGenJS</cp:lastModifiedBy>
  <cp:revision>1</cp:revision>
  <dcterms:created xsi:type="dcterms:W3CDTF">2026-10-27T20:20:48Z</dcterms:created>
  <dcterms:modified xsi:type="dcterms:W3CDTF">2026-10-27T20:20:48Z</dcterms:modified>
</cp:coreProperties>
</file>